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1430000" cy="6438900"/>
  <p:notesSz cx="6858000" cy="9144000"/>
  <p:embeddedFontLst>
    <p:embeddedFont>
      <p:font typeface="Instrument Serif" charset="1" panose="00000000000000000000"/>
      <p:regular r:id="rId16"/>
    </p:embeddedFont>
    <p:embeddedFont>
      <p:font typeface="Arimo" charset="1" panose="020B0604020202020204"/>
      <p:regular r:id="rId17"/>
    </p:embeddedFont>
    <p:embeddedFont>
      <p:font typeface="Noto Sans" charset="1" panose="020B0502040504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png" Type="http://schemas.openxmlformats.org/officeDocument/2006/relationships/image"/><Relationship Id="rId12" Target="../media/image16.png" Type="http://schemas.openxmlformats.org/officeDocument/2006/relationships/image"/><Relationship Id="rId13" Target="../media/image17.png" Type="http://schemas.openxmlformats.org/officeDocument/2006/relationships/image"/><Relationship Id="rId14" Target="../media/image18.svg" Type="http://schemas.openxmlformats.org/officeDocument/2006/relationships/image"/><Relationship Id="rId15" Target="../media/image19.png" Type="http://schemas.openxmlformats.org/officeDocument/2006/relationships/image"/><Relationship Id="rId16" Target="../media/image20.svg" Type="http://schemas.openxmlformats.org/officeDocument/2006/relationships/image"/><Relationship Id="rId17" Target="../media/image21.png" Type="http://schemas.openxmlformats.org/officeDocument/2006/relationships/image"/><Relationship Id="rId18" Target="../media/image22.png" Type="http://schemas.openxmlformats.org/officeDocument/2006/relationships/image"/><Relationship Id="rId19" Target="../media/image23.png" Type="http://schemas.openxmlformats.org/officeDocument/2006/relationships/image"/><Relationship Id="rId2" Target="../media/image6.png" Type="http://schemas.openxmlformats.org/officeDocument/2006/relationships/image"/><Relationship Id="rId20" Target="../media/image24.svg" Type="http://schemas.openxmlformats.org/officeDocument/2006/relationships/image"/><Relationship Id="rId21" Target="../media/image25.svg" Type="http://schemas.openxmlformats.org/officeDocument/2006/relationships/image"/><Relationship Id="rId22" Target="../media/image26.png" Type="http://schemas.openxmlformats.org/officeDocument/2006/relationships/image"/><Relationship Id="rId23" Target="../media/image27.png" Type="http://schemas.openxmlformats.org/officeDocument/2006/relationships/image"/><Relationship Id="rId24" Target="../media/image28.png" Type="http://schemas.openxmlformats.org/officeDocument/2006/relationships/image"/><Relationship Id="rId25" Target="../media/image29.sv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svg" Type="http://schemas.openxmlformats.org/officeDocument/2006/relationships/image"/><Relationship Id="rId12" Target="../media/image36.svg" Type="http://schemas.openxmlformats.org/officeDocument/2006/relationships/image"/><Relationship Id="rId13" Target="../media/image37.png" Type="http://schemas.openxmlformats.org/officeDocument/2006/relationships/image"/><Relationship Id="rId14" Target="../media/image38.sv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media/image32.png" Type="http://schemas.openxmlformats.org/officeDocument/2006/relationships/image"/><Relationship Id="rId9" Target="../media/image3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png" Type="http://schemas.openxmlformats.org/officeDocument/2006/relationships/image"/><Relationship Id="rId11" Target="../media/image44.svg" Type="http://schemas.openxmlformats.org/officeDocument/2006/relationships/image"/><Relationship Id="rId12" Target="../media/image45.png" Type="http://schemas.openxmlformats.org/officeDocument/2006/relationships/image"/><Relationship Id="rId13" Target="../media/image46.svg" Type="http://schemas.openxmlformats.org/officeDocument/2006/relationships/image"/><Relationship Id="rId14" Target="../media/image47.png" Type="http://schemas.openxmlformats.org/officeDocument/2006/relationships/image"/><Relationship Id="rId15" Target="../media/image48.svg" Type="http://schemas.openxmlformats.org/officeDocument/2006/relationships/image"/><Relationship Id="rId16" Target="../media/image49.png" Type="http://schemas.openxmlformats.org/officeDocument/2006/relationships/image"/><Relationship Id="rId17" Target="../media/image50.sv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Relationship Id="rId8" Target="../media/image41.png" Type="http://schemas.openxmlformats.org/officeDocument/2006/relationships/image"/><Relationship Id="rId9" Target="../media/image4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png" Type="http://schemas.openxmlformats.org/officeDocument/2006/relationships/image"/><Relationship Id="rId11" Target="../media/image56.svg" Type="http://schemas.openxmlformats.org/officeDocument/2006/relationships/image"/><Relationship Id="rId12" Target="../media/image57.png" Type="http://schemas.openxmlformats.org/officeDocument/2006/relationships/image"/><Relationship Id="rId13" Target="../media/image58.svg" Type="http://schemas.openxmlformats.org/officeDocument/2006/relationships/image"/><Relationship Id="rId14" Target="../media/image59.png" Type="http://schemas.openxmlformats.org/officeDocument/2006/relationships/image"/><Relationship Id="rId15" Target="../media/image60.sv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51.png" Type="http://schemas.openxmlformats.org/officeDocument/2006/relationships/image"/><Relationship Id="rId7" Target="../media/image52.svg" Type="http://schemas.openxmlformats.org/officeDocument/2006/relationships/image"/><Relationship Id="rId8" Target="../media/image53.png" Type="http://schemas.openxmlformats.org/officeDocument/2006/relationships/image"/><Relationship Id="rId9" Target="../media/image5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5.png" Type="http://schemas.openxmlformats.org/officeDocument/2006/relationships/image"/><Relationship Id="rId11" Target="../media/image66.png" Type="http://schemas.openxmlformats.org/officeDocument/2006/relationships/image"/><Relationship Id="rId12" Target="../media/image67.png" Type="http://schemas.openxmlformats.org/officeDocument/2006/relationships/image"/><Relationship Id="rId13" Target="../media/image68.svg" Type="http://schemas.openxmlformats.org/officeDocument/2006/relationships/image"/><Relationship Id="rId14" Target="../media/image69.png" Type="http://schemas.openxmlformats.org/officeDocument/2006/relationships/image"/><Relationship Id="rId15" Target="../media/image70.svg" Type="http://schemas.openxmlformats.org/officeDocument/2006/relationships/image"/><Relationship Id="rId16" Target="../media/image71.png" Type="http://schemas.openxmlformats.org/officeDocument/2006/relationships/image"/><Relationship Id="rId17" Target="../media/image72.png" Type="http://schemas.openxmlformats.org/officeDocument/2006/relationships/image"/><Relationship Id="rId18" Target="../media/image73.png" Type="http://schemas.openxmlformats.org/officeDocument/2006/relationships/image"/><Relationship Id="rId19" Target="../media/image74.png" Type="http://schemas.openxmlformats.org/officeDocument/2006/relationships/image"/><Relationship Id="rId2" Target="../media/image6.png" Type="http://schemas.openxmlformats.org/officeDocument/2006/relationships/image"/><Relationship Id="rId20" Target="../media/image75.sv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61.png" Type="http://schemas.openxmlformats.org/officeDocument/2006/relationships/image"/><Relationship Id="rId7" Target="../media/image62.png" Type="http://schemas.openxmlformats.org/officeDocument/2006/relationships/image"/><Relationship Id="rId8" Target="../media/image63.svg" Type="http://schemas.openxmlformats.org/officeDocument/2006/relationships/image"/><Relationship Id="rId9" Target="../media/image6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9.svg" Type="http://schemas.openxmlformats.org/officeDocument/2006/relationships/image"/><Relationship Id="rId11" Target="../media/image80.png" Type="http://schemas.openxmlformats.org/officeDocument/2006/relationships/image"/><Relationship Id="rId12" Target="../media/image81.sv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32.png" Type="http://schemas.openxmlformats.org/officeDocument/2006/relationships/image"/><Relationship Id="rId7" Target="../media/image76.svg" Type="http://schemas.openxmlformats.org/officeDocument/2006/relationships/image"/><Relationship Id="rId8" Target="../media/image77.png" Type="http://schemas.openxmlformats.org/officeDocument/2006/relationships/image"/><Relationship Id="rId9" Target="../media/image7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6.sv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82.png" Type="http://schemas.openxmlformats.org/officeDocument/2006/relationships/image"/><Relationship Id="rId7" Target="../media/image83.svg" Type="http://schemas.openxmlformats.org/officeDocument/2006/relationships/image"/><Relationship Id="rId8" Target="../media/image84.svg" Type="http://schemas.openxmlformats.org/officeDocument/2006/relationships/image"/><Relationship Id="rId9" Target="../media/image8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1.png" Type="http://schemas.openxmlformats.org/officeDocument/2006/relationships/image"/><Relationship Id="rId11" Target="../media/image92.svg" Type="http://schemas.openxmlformats.org/officeDocument/2006/relationships/image"/><Relationship Id="rId12" Target="../media/image93.png" Type="http://schemas.openxmlformats.org/officeDocument/2006/relationships/image"/><Relationship Id="rId13" Target="../media/image94.svg" Type="http://schemas.openxmlformats.org/officeDocument/2006/relationships/image"/><Relationship Id="rId14" Target="../media/image95.png" Type="http://schemas.openxmlformats.org/officeDocument/2006/relationships/image"/><Relationship Id="rId15" Target="../media/image96.svg" Type="http://schemas.openxmlformats.org/officeDocument/2006/relationships/image"/><Relationship Id="rId16" Target="../media/image97.png" Type="http://schemas.openxmlformats.org/officeDocument/2006/relationships/image"/><Relationship Id="rId17" Target="../media/image98.svg" Type="http://schemas.openxmlformats.org/officeDocument/2006/relationships/image"/><Relationship Id="rId18" Target="../media/image99.svg" Type="http://schemas.openxmlformats.org/officeDocument/2006/relationships/image"/><Relationship Id="rId19" Target="../media/image100.png" Type="http://schemas.openxmlformats.org/officeDocument/2006/relationships/image"/><Relationship Id="rId2" Target="../media/image6.png" Type="http://schemas.openxmlformats.org/officeDocument/2006/relationships/image"/><Relationship Id="rId20" Target="../media/image101.svg" Type="http://schemas.openxmlformats.org/officeDocument/2006/relationships/image"/><Relationship Id="rId21" Target="../media/image102.png" Type="http://schemas.openxmlformats.org/officeDocument/2006/relationships/image"/><Relationship Id="rId22" Target="../media/image103.svg" Type="http://schemas.openxmlformats.org/officeDocument/2006/relationships/image"/><Relationship Id="rId23" Target="../media/image104.svg" Type="http://schemas.openxmlformats.org/officeDocument/2006/relationships/image"/><Relationship Id="rId24" Target="../media/image105.png" Type="http://schemas.openxmlformats.org/officeDocument/2006/relationships/image"/><Relationship Id="rId25" Target="../media/image106.svg" Type="http://schemas.openxmlformats.org/officeDocument/2006/relationships/image"/><Relationship Id="rId26" Target="../media/image107.png" Type="http://schemas.openxmlformats.org/officeDocument/2006/relationships/image"/><Relationship Id="rId27" Target="../media/image108.svg" Type="http://schemas.openxmlformats.org/officeDocument/2006/relationships/image"/><Relationship Id="rId28" Target="../media/image109.png" Type="http://schemas.openxmlformats.org/officeDocument/2006/relationships/image"/><Relationship Id="rId29" Target="../media/image110.svg" Type="http://schemas.openxmlformats.org/officeDocument/2006/relationships/image"/><Relationship Id="rId3" Target="../media/image7.svg" Type="http://schemas.openxmlformats.org/officeDocument/2006/relationships/image"/><Relationship Id="rId30" Target="../media/image111.png" Type="http://schemas.openxmlformats.org/officeDocument/2006/relationships/image"/><Relationship Id="rId31" Target="../media/image112.svg" Type="http://schemas.openxmlformats.org/officeDocument/2006/relationships/image"/><Relationship Id="rId32" Target="../media/image113.svg" Type="http://schemas.openxmlformats.org/officeDocument/2006/relationships/image"/><Relationship Id="rId33" Target="../media/image114.png" Type="http://schemas.openxmlformats.org/officeDocument/2006/relationships/image"/><Relationship Id="rId34" Target="../media/image115.svg" Type="http://schemas.openxmlformats.org/officeDocument/2006/relationships/image"/><Relationship Id="rId35" Target="../media/image116.png" Type="http://schemas.openxmlformats.org/officeDocument/2006/relationships/image"/><Relationship Id="rId36" Target="../media/image117.svg" Type="http://schemas.openxmlformats.org/officeDocument/2006/relationships/image"/><Relationship Id="rId37" Target="../media/image118.png" Type="http://schemas.openxmlformats.org/officeDocument/2006/relationships/image"/><Relationship Id="rId38" Target="../media/image119.png" Type="http://schemas.openxmlformats.org/officeDocument/2006/relationships/image"/><Relationship Id="rId39" Target="../media/image120.png" Type="http://schemas.openxmlformats.org/officeDocument/2006/relationships/image"/><Relationship Id="rId4" Target="../media/image8.png" Type="http://schemas.openxmlformats.org/officeDocument/2006/relationships/image"/><Relationship Id="rId40" Target="../media/image121.png" Type="http://schemas.openxmlformats.org/officeDocument/2006/relationships/image"/><Relationship Id="rId41" Target="../media/image122.svg" Type="http://schemas.openxmlformats.org/officeDocument/2006/relationships/image"/><Relationship Id="rId42" Target="../media/image123.png" Type="http://schemas.openxmlformats.org/officeDocument/2006/relationships/image"/><Relationship Id="rId43" Target="../media/image124.svg" Type="http://schemas.openxmlformats.org/officeDocument/2006/relationships/image"/><Relationship Id="rId44" Target="../media/image125.png" Type="http://schemas.openxmlformats.org/officeDocument/2006/relationships/image"/><Relationship Id="rId45" Target="../media/image126.svg" Type="http://schemas.openxmlformats.org/officeDocument/2006/relationships/image"/><Relationship Id="rId46" Target="../media/image127.svg" Type="http://schemas.openxmlformats.org/officeDocument/2006/relationships/image"/><Relationship Id="rId47" Target="../media/image128.png" Type="http://schemas.openxmlformats.org/officeDocument/2006/relationships/image"/><Relationship Id="rId48" Target="../media/image129.png" Type="http://schemas.openxmlformats.org/officeDocument/2006/relationships/image"/><Relationship Id="rId49" Target="../media/image130.png" Type="http://schemas.openxmlformats.org/officeDocument/2006/relationships/image"/><Relationship Id="rId5" Target="../media/image9.svg" Type="http://schemas.openxmlformats.org/officeDocument/2006/relationships/image"/><Relationship Id="rId50" Target="../media/image131.svg" Type="http://schemas.openxmlformats.org/officeDocument/2006/relationships/image"/><Relationship Id="rId51" Target="../media/image132.svg" Type="http://schemas.openxmlformats.org/officeDocument/2006/relationships/image"/><Relationship Id="rId52" Target="../media/image133.png" Type="http://schemas.openxmlformats.org/officeDocument/2006/relationships/image"/><Relationship Id="rId53" Target="../media/image134.png" Type="http://schemas.openxmlformats.org/officeDocument/2006/relationships/image"/><Relationship Id="rId54" Target="../media/image135.svg" Type="http://schemas.openxmlformats.org/officeDocument/2006/relationships/image"/><Relationship Id="rId6" Target="../media/image87.png" Type="http://schemas.openxmlformats.org/officeDocument/2006/relationships/image"/><Relationship Id="rId7" Target="../media/image88.svg" Type="http://schemas.openxmlformats.org/officeDocument/2006/relationships/image"/><Relationship Id="rId8" Target="../media/image89.png" Type="http://schemas.openxmlformats.org/officeDocument/2006/relationships/image"/><Relationship Id="rId9" Target="../media/image9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0.png" Type="http://schemas.openxmlformats.org/officeDocument/2006/relationships/image"/><Relationship Id="rId11" Target="../media/image141.svg" Type="http://schemas.openxmlformats.org/officeDocument/2006/relationships/image"/><Relationship Id="rId12" Target="../media/image142.svg" Type="http://schemas.openxmlformats.org/officeDocument/2006/relationships/image"/><Relationship Id="rId13" Target="../media/image143.svg" Type="http://schemas.openxmlformats.org/officeDocument/2006/relationships/image"/><Relationship Id="rId14" Target="../media/image144.svg" Type="http://schemas.openxmlformats.org/officeDocument/2006/relationships/image"/><Relationship Id="rId15" Target="../media/image145.svg" Type="http://schemas.openxmlformats.org/officeDocument/2006/relationships/image"/><Relationship Id="rId16" Target="../media/image146.png" Type="http://schemas.openxmlformats.org/officeDocument/2006/relationships/image"/><Relationship Id="rId17" Target="../media/image147.sv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36.png" Type="http://schemas.openxmlformats.org/officeDocument/2006/relationships/image"/><Relationship Id="rId7" Target="../media/image137.svg" Type="http://schemas.openxmlformats.org/officeDocument/2006/relationships/image"/><Relationship Id="rId8" Target="../media/image138.png" Type="http://schemas.openxmlformats.org/officeDocument/2006/relationships/image"/><Relationship Id="rId9" Target="../media/image13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381"/>
            <a:ext cx="11430000" cy="6439662"/>
            <a:chOff x="0" y="6"/>
            <a:chExt cx="63500000" cy="35771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-6"/>
              <a:ext cx="63500000" cy="35771673"/>
            </a:xfrm>
            <a:custGeom>
              <a:avLst/>
              <a:gdLst/>
              <a:ahLst/>
              <a:cxnLst/>
              <a:rect r="r" b="b" t="t" l="l"/>
              <a:pathLst>
                <a:path h="35771673" w="63500000">
                  <a:moveTo>
                    <a:pt x="63500000" y="0"/>
                  </a:moveTo>
                  <a:lnTo>
                    <a:pt x="63500000" y="35771674"/>
                  </a:lnTo>
                  <a:lnTo>
                    <a:pt x="0" y="35771674"/>
                  </a:lnTo>
                  <a:lnTo>
                    <a:pt x="0" y="0"/>
                  </a:lnTo>
                  <a:lnTo>
                    <a:pt x="6350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572" y="4191"/>
            <a:ext cx="11420856" cy="6430518"/>
            <a:chOff x="26458" y="26464"/>
            <a:chExt cx="63447079" cy="357187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-4" y="3"/>
              <a:ext cx="63447083" cy="35718750"/>
            </a:xfrm>
            <a:custGeom>
              <a:avLst/>
              <a:gdLst/>
              <a:ahLst/>
              <a:cxnLst/>
              <a:rect r="r" b="b" t="t" l="l"/>
              <a:pathLst>
                <a:path h="35718750" w="63447083">
                  <a:moveTo>
                    <a:pt x="63447083" y="0"/>
                  </a:moveTo>
                  <a:lnTo>
                    <a:pt x="63447083" y="35718750"/>
                  </a:lnTo>
                  <a:lnTo>
                    <a:pt x="0" y="35718750"/>
                  </a:lnTo>
                  <a:lnTo>
                    <a:pt x="0" y="0"/>
                  </a:lnTo>
                  <a:lnTo>
                    <a:pt x="63447083" y="0"/>
                  </a:lnTo>
                  <a:close/>
                </a:path>
              </a:pathLst>
            </a:custGeom>
            <a:solidFill>
              <a:srgbClr val="DEEE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-381"/>
            <a:ext cx="11430000" cy="6439662"/>
            <a:chOff x="0" y="6"/>
            <a:chExt cx="63500000" cy="357716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-6"/>
              <a:ext cx="63500000" cy="35771673"/>
            </a:xfrm>
            <a:custGeom>
              <a:avLst/>
              <a:gdLst/>
              <a:ahLst/>
              <a:cxnLst/>
              <a:rect r="r" b="b" t="t" l="l"/>
              <a:pathLst>
                <a:path h="35771673" w="63500000">
                  <a:moveTo>
                    <a:pt x="63500000" y="0"/>
                  </a:moveTo>
                  <a:lnTo>
                    <a:pt x="63500000" y="35771674"/>
                  </a:lnTo>
                  <a:lnTo>
                    <a:pt x="0" y="35771674"/>
                  </a:lnTo>
                  <a:lnTo>
                    <a:pt x="0" y="0"/>
                  </a:lnTo>
                  <a:lnTo>
                    <a:pt x="6350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-257"/>
            <a:ext cx="4286250" cy="6439662"/>
            <a:chOff x="0" y="0"/>
            <a:chExt cx="5715000" cy="85862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673"/>
              <a:ext cx="5715000" cy="8585200"/>
            </a:xfrm>
            <a:custGeom>
              <a:avLst/>
              <a:gdLst/>
              <a:ahLst/>
              <a:cxnLst/>
              <a:rect r="r" b="b" t="t" l="l"/>
              <a:pathLst>
                <a:path h="8585200" w="5715000">
                  <a:moveTo>
                    <a:pt x="0" y="8585200"/>
                  </a:moveTo>
                  <a:lnTo>
                    <a:pt x="0" y="0"/>
                  </a:lnTo>
                  <a:lnTo>
                    <a:pt x="5715000" y="0"/>
                  </a:lnTo>
                  <a:lnTo>
                    <a:pt x="5715000" y="8585200"/>
                  </a:lnTo>
                  <a:lnTo>
                    <a:pt x="0" y="8585200"/>
                  </a:lnTo>
                  <a:close/>
                </a:path>
              </a:pathLst>
            </a:custGeom>
            <a:blipFill>
              <a:blip r:embed="rId2"/>
              <a:stretch>
                <a:fillRect l="0" t="-7" r="0" b="-3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886134" y="3895534"/>
            <a:ext cx="905256" cy="276606"/>
            <a:chOff x="27146250" y="21642917"/>
            <a:chExt cx="5027079" cy="153457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4"/>
              <a:ext cx="5027079" cy="1534579"/>
            </a:xfrm>
            <a:custGeom>
              <a:avLst/>
              <a:gdLst/>
              <a:ahLst/>
              <a:cxnLst/>
              <a:rect r="r" b="b" t="t" l="l"/>
              <a:pathLst>
                <a:path h="1534579" w="5027079">
                  <a:moveTo>
                    <a:pt x="0" y="1034556"/>
                  </a:moveTo>
                  <a:lnTo>
                    <a:pt x="0" y="500087"/>
                  </a:lnTo>
                  <a:cubicBezTo>
                    <a:pt x="0" y="467221"/>
                    <a:pt x="3175" y="434684"/>
                    <a:pt x="9603" y="402514"/>
                  </a:cubicBezTo>
                  <a:cubicBezTo>
                    <a:pt x="16015" y="370269"/>
                    <a:pt x="25478" y="339014"/>
                    <a:pt x="38022" y="308674"/>
                  </a:cubicBezTo>
                  <a:cubicBezTo>
                    <a:pt x="50660" y="278334"/>
                    <a:pt x="66039" y="249555"/>
                    <a:pt x="84314" y="222250"/>
                  </a:cubicBezTo>
                  <a:cubicBezTo>
                    <a:pt x="102515" y="194945"/>
                    <a:pt x="123267" y="169684"/>
                    <a:pt x="146469" y="146469"/>
                  </a:cubicBezTo>
                  <a:cubicBezTo>
                    <a:pt x="169686" y="123253"/>
                    <a:pt x="194946" y="102515"/>
                    <a:pt x="222250" y="84240"/>
                  </a:cubicBezTo>
                  <a:cubicBezTo>
                    <a:pt x="249554" y="66040"/>
                    <a:pt x="278346" y="50661"/>
                    <a:pt x="308685" y="38100"/>
                  </a:cubicBezTo>
                  <a:cubicBezTo>
                    <a:pt x="339015" y="25464"/>
                    <a:pt x="370281" y="16015"/>
                    <a:pt x="402515" y="9589"/>
                  </a:cubicBezTo>
                  <a:cubicBezTo>
                    <a:pt x="434696" y="3175"/>
                    <a:pt x="467221" y="0"/>
                    <a:pt x="500100" y="0"/>
                  </a:cubicBezTo>
                  <a:lnTo>
                    <a:pt x="4527054" y="0"/>
                  </a:lnTo>
                  <a:cubicBezTo>
                    <a:pt x="4559858" y="0"/>
                    <a:pt x="4592396" y="3175"/>
                    <a:pt x="4624564" y="9589"/>
                  </a:cubicBezTo>
                  <a:cubicBezTo>
                    <a:pt x="4656810" y="16015"/>
                    <a:pt x="4688064" y="25464"/>
                    <a:pt x="4718407" y="38100"/>
                  </a:cubicBezTo>
                  <a:cubicBezTo>
                    <a:pt x="4748746" y="50661"/>
                    <a:pt x="4777525" y="66040"/>
                    <a:pt x="4804829" y="84240"/>
                  </a:cubicBezTo>
                  <a:cubicBezTo>
                    <a:pt x="4832133" y="102515"/>
                    <a:pt x="4857393" y="123253"/>
                    <a:pt x="4880611" y="146469"/>
                  </a:cubicBezTo>
                  <a:cubicBezTo>
                    <a:pt x="4903825" y="169684"/>
                    <a:pt x="4924565" y="194945"/>
                    <a:pt x="4942765" y="222250"/>
                  </a:cubicBezTo>
                  <a:cubicBezTo>
                    <a:pt x="4961040" y="249555"/>
                    <a:pt x="4976419" y="278334"/>
                    <a:pt x="4989057" y="308674"/>
                  </a:cubicBezTo>
                  <a:cubicBezTo>
                    <a:pt x="5001614" y="339014"/>
                    <a:pt x="5011065" y="370269"/>
                    <a:pt x="5017489" y="402514"/>
                  </a:cubicBezTo>
                  <a:cubicBezTo>
                    <a:pt x="5023904" y="434684"/>
                    <a:pt x="5027079" y="467221"/>
                    <a:pt x="5027079" y="500087"/>
                  </a:cubicBezTo>
                  <a:lnTo>
                    <a:pt x="5027079" y="1034556"/>
                  </a:lnTo>
                  <a:cubicBezTo>
                    <a:pt x="5027079" y="1067360"/>
                    <a:pt x="5023904" y="1099883"/>
                    <a:pt x="5017489" y="1132066"/>
                  </a:cubicBezTo>
                  <a:cubicBezTo>
                    <a:pt x="5011065" y="1164298"/>
                    <a:pt x="5001614" y="1195566"/>
                    <a:pt x="4989057" y="1225893"/>
                  </a:cubicBezTo>
                  <a:cubicBezTo>
                    <a:pt x="4976419" y="1256234"/>
                    <a:pt x="4961040" y="1285024"/>
                    <a:pt x="4942765" y="1312329"/>
                  </a:cubicBezTo>
                  <a:cubicBezTo>
                    <a:pt x="4924565" y="1339635"/>
                    <a:pt x="4903825" y="1364895"/>
                    <a:pt x="4880611" y="1388111"/>
                  </a:cubicBezTo>
                  <a:cubicBezTo>
                    <a:pt x="4857393" y="1411312"/>
                    <a:pt x="4832133" y="1432065"/>
                    <a:pt x="4804829" y="1450340"/>
                  </a:cubicBezTo>
                  <a:cubicBezTo>
                    <a:pt x="4777525" y="1468540"/>
                    <a:pt x="4748746" y="1483919"/>
                    <a:pt x="4718407" y="1496479"/>
                  </a:cubicBezTo>
                  <a:cubicBezTo>
                    <a:pt x="4688064" y="1509040"/>
                    <a:pt x="4656810" y="1518565"/>
                    <a:pt x="4624564" y="1524978"/>
                  </a:cubicBezTo>
                  <a:cubicBezTo>
                    <a:pt x="4592396" y="1531328"/>
                    <a:pt x="4559858" y="1534579"/>
                    <a:pt x="4527054" y="1534579"/>
                  </a:cubicBezTo>
                  <a:lnTo>
                    <a:pt x="500100" y="1534579"/>
                  </a:lnTo>
                  <a:cubicBezTo>
                    <a:pt x="467221" y="1534579"/>
                    <a:pt x="434696" y="1531328"/>
                    <a:pt x="402515" y="1524978"/>
                  </a:cubicBezTo>
                  <a:cubicBezTo>
                    <a:pt x="370281" y="1518565"/>
                    <a:pt x="339015" y="1509040"/>
                    <a:pt x="308685" y="1496479"/>
                  </a:cubicBezTo>
                  <a:cubicBezTo>
                    <a:pt x="278346" y="1483919"/>
                    <a:pt x="249554" y="1468540"/>
                    <a:pt x="222250" y="1450340"/>
                  </a:cubicBezTo>
                  <a:cubicBezTo>
                    <a:pt x="194946" y="1432065"/>
                    <a:pt x="169686" y="1411312"/>
                    <a:pt x="146469" y="1388111"/>
                  </a:cubicBezTo>
                  <a:cubicBezTo>
                    <a:pt x="123267" y="1364895"/>
                    <a:pt x="102515" y="1339635"/>
                    <a:pt x="84314" y="1312329"/>
                  </a:cubicBezTo>
                  <a:cubicBezTo>
                    <a:pt x="66039" y="1285024"/>
                    <a:pt x="50660" y="1256234"/>
                    <a:pt x="38022" y="1225893"/>
                  </a:cubicBezTo>
                  <a:cubicBezTo>
                    <a:pt x="25478" y="1195566"/>
                    <a:pt x="16015" y="1164298"/>
                    <a:pt x="9603" y="1132066"/>
                  </a:cubicBezTo>
                  <a:cubicBezTo>
                    <a:pt x="3175" y="1099883"/>
                    <a:pt x="0" y="1067360"/>
                    <a:pt x="0" y="1034556"/>
                  </a:cubicBezTo>
                  <a:close/>
                </a:path>
              </a:pathLst>
            </a:custGeom>
            <a:solidFill>
              <a:srgbClr val="CEE6FD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5851588" y="3870388"/>
            <a:ext cx="1184148" cy="326898"/>
          </a:xfrm>
          <a:custGeom>
            <a:avLst/>
            <a:gdLst/>
            <a:ahLst/>
            <a:cxnLst/>
            <a:rect r="r" b="b" t="t" l="l"/>
            <a:pathLst>
              <a:path h="326898" w="1184148">
                <a:moveTo>
                  <a:pt x="0" y="0"/>
                </a:moveTo>
                <a:lnTo>
                  <a:pt x="1184148" y="0"/>
                </a:lnTo>
                <a:lnTo>
                  <a:pt x="1184148" y="326898"/>
                </a:lnTo>
                <a:lnTo>
                  <a:pt x="0" y="3268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080694" y="3870388"/>
            <a:ext cx="745236" cy="326898"/>
          </a:xfrm>
          <a:custGeom>
            <a:avLst/>
            <a:gdLst/>
            <a:ahLst/>
            <a:cxnLst/>
            <a:rect r="r" b="b" t="t" l="l"/>
            <a:pathLst>
              <a:path h="326898" w="745236">
                <a:moveTo>
                  <a:pt x="0" y="0"/>
                </a:moveTo>
                <a:lnTo>
                  <a:pt x="745236" y="0"/>
                </a:lnTo>
                <a:lnTo>
                  <a:pt x="745236" y="326898"/>
                </a:lnTo>
                <a:lnTo>
                  <a:pt x="0" y="3268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886325" y="2241566"/>
            <a:ext cx="4356697" cy="1023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4"/>
              </a:lnSpc>
            </a:pPr>
            <a:r>
              <a:rPr lang="en-US" sz="2952">
                <a:solidFill>
                  <a:srgbClr val="091C5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7</a:t>
            </a:r>
          </a:p>
          <a:p>
            <a:pPr algn="l">
              <a:lnSpc>
                <a:spcPts val="4124"/>
              </a:lnSpc>
            </a:pPr>
            <a:r>
              <a:rPr lang="en-US" sz="2952">
                <a:solidFill>
                  <a:srgbClr val="091C5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Jogo de Exploração RPG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715324" y="3484712"/>
            <a:ext cx="30147" cy="20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886325" y="3484712"/>
            <a:ext cx="4878848" cy="20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Documento</a:t>
            </a:r>
            <a:r>
              <a:rPr lang="en-US" sz="1181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Técnico</a:t>
            </a:r>
            <a:r>
              <a:rPr lang="en-US" sz="1181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—</a:t>
            </a:r>
            <a:r>
              <a:rPr lang="en-US" sz="1181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Versão</a:t>
            </a:r>
            <a:r>
              <a:rPr lang="en-US" sz="1181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1.0</a:t>
            </a:r>
            <a:r>
              <a:rPr lang="en-US" sz="1181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|</a:t>
            </a:r>
            <a:r>
              <a:rPr lang="en-US" sz="1181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HTML5</a:t>
            </a:r>
            <a:r>
              <a:rPr lang="en-US" sz="1181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+</a:t>
            </a:r>
            <a:r>
              <a:rPr lang="en-US" sz="1181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CSS3</a:t>
            </a:r>
            <a:r>
              <a:rPr lang="en-US" sz="1181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+</a:t>
            </a:r>
            <a:r>
              <a:rPr lang="en-US" sz="1181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JavaScript</a:t>
            </a:r>
            <a:r>
              <a:rPr lang="en-US" sz="1181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Vanilla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976212" y="3949817"/>
            <a:ext cx="742607" cy="163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2"/>
              </a:lnSpc>
            </a:pPr>
            <a:r>
              <a:rPr lang="en-US" sz="944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CLIENT</a:t>
            </a:r>
            <a:r>
              <a:rPr lang="en-US" sz="944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944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SIDE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968603" y="3949817"/>
            <a:ext cx="968816" cy="163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2"/>
              </a:lnSpc>
            </a:pPr>
            <a:r>
              <a:rPr lang="en-US" sz="944">
                <a:solidFill>
                  <a:srgbClr val="84C1F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STATE</a:t>
            </a:r>
            <a:r>
              <a:rPr lang="en-US" sz="944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944">
                <a:solidFill>
                  <a:srgbClr val="84C1F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MACHINE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192270" y="3949817"/>
            <a:ext cx="531428" cy="163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2"/>
              </a:lnSpc>
            </a:pPr>
            <a:r>
              <a:rPr lang="en-US" sz="944">
                <a:solidFill>
                  <a:srgbClr val="84C1F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GRID</a:t>
            </a:r>
            <a:r>
              <a:rPr lang="en-US" sz="944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944">
                <a:solidFill>
                  <a:srgbClr val="84C1F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8×8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381"/>
            <a:ext cx="11430000" cy="6439662"/>
          </a:xfrm>
          <a:custGeom>
            <a:avLst/>
            <a:gdLst/>
            <a:ahLst/>
            <a:cxnLst/>
            <a:rect r="r" b="b" t="t" l="l"/>
            <a:pathLst>
              <a:path h="6439662" w="11430000">
                <a:moveTo>
                  <a:pt x="0" y="0"/>
                </a:moveTo>
                <a:lnTo>
                  <a:pt x="11430000" y="0"/>
                </a:lnTo>
                <a:lnTo>
                  <a:pt x="11430000" y="6439662"/>
                </a:lnTo>
                <a:lnTo>
                  <a:pt x="0" y="6439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72" y="4191"/>
            <a:ext cx="11420856" cy="6430518"/>
          </a:xfrm>
          <a:custGeom>
            <a:avLst/>
            <a:gdLst/>
            <a:ahLst/>
            <a:cxnLst/>
            <a:rect r="r" b="b" t="t" l="l"/>
            <a:pathLst>
              <a:path h="6430518" w="11420856">
                <a:moveTo>
                  <a:pt x="0" y="0"/>
                </a:moveTo>
                <a:lnTo>
                  <a:pt x="11420856" y="0"/>
                </a:lnTo>
                <a:lnTo>
                  <a:pt x="11420856" y="6430518"/>
                </a:lnTo>
                <a:lnTo>
                  <a:pt x="0" y="64305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-381"/>
            <a:ext cx="11430000" cy="6439662"/>
          </a:xfrm>
          <a:custGeom>
            <a:avLst/>
            <a:gdLst/>
            <a:ahLst/>
            <a:cxnLst/>
            <a:rect r="r" b="b" t="t" l="l"/>
            <a:pathLst>
              <a:path h="6439662" w="11430000">
                <a:moveTo>
                  <a:pt x="0" y="0"/>
                </a:moveTo>
                <a:lnTo>
                  <a:pt x="11430000" y="0"/>
                </a:lnTo>
                <a:lnTo>
                  <a:pt x="11430000" y="6439662"/>
                </a:lnTo>
                <a:lnTo>
                  <a:pt x="0" y="6439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95300" y="1247775"/>
            <a:ext cx="5143500" cy="4629150"/>
          </a:xfrm>
          <a:custGeom>
            <a:avLst/>
            <a:gdLst/>
            <a:ahLst/>
            <a:cxnLst/>
            <a:rect r="r" b="b" t="t" l="l"/>
            <a:pathLst>
              <a:path h="4629150" w="5143500">
                <a:moveTo>
                  <a:pt x="0" y="0"/>
                </a:moveTo>
                <a:lnTo>
                  <a:pt x="5143500" y="0"/>
                </a:lnTo>
                <a:lnTo>
                  <a:pt x="5143500" y="4629150"/>
                </a:lnTo>
                <a:lnTo>
                  <a:pt x="0" y="46291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904547" y="1818894"/>
            <a:ext cx="4926330" cy="1181862"/>
          </a:xfrm>
          <a:custGeom>
            <a:avLst/>
            <a:gdLst/>
            <a:ahLst/>
            <a:cxnLst/>
            <a:rect r="r" b="b" t="t" l="l"/>
            <a:pathLst>
              <a:path h="1181862" w="4926330">
                <a:moveTo>
                  <a:pt x="0" y="0"/>
                </a:moveTo>
                <a:lnTo>
                  <a:pt x="4926331" y="0"/>
                </a:lnTo>
                <a:lnTo>
                  <a:pt x="4926331" y="1181862"/>
                </a:lnTo>
                <a:lnTo>
                  <a:pt x="0" y="11818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904738" y="1808988"/>
            <a:ext cx="4935474" cy="77724"/>
            <a:chOff x="0" y="0"/>
            <a:chExt cx="6580632" cy="10363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580632" cy="103632"/>
            </a:xfrm>
            <a:custGeom>
              <a:avLst/>
              <a:gdLst/>
              <a:ahLst/>
              <a:cxnLst/>
              <a:rect r="r" b="b" t="t" l="l"/>
              <a:pathLst>
                <a:path h="103632" w="6580632">
                  <a:moveTo>
                    <a:pt x="0" y="0"/>
                  </a:moveTo>
                  <a:lnTo>
                    <a:pt x="6580632" y="0"/>
                  </a:lnTo>
                  <a:lnTo>
                    <a:pt x="6580632" y="103632"/>
                  </a:lnTo>
                  <a:lnTo>
                    <a:pt x="0" y="103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5904738" y="2932938"/>
            <a:ext cx="4935474" cy="77724"/>
            <a:chOff x="0" y="0"/>
            <a:chExt cx="6580632" cy="1036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580632" cy="103632"/>
            </a:xfrm>
            <a:custGeom>
              <a:avLst/>
              <a:gdLst/>
              <a:ahLst/>
              <a:cxnLst/>
              <a:rect r="r" b="b" t="t" l="l"/>
              <a:pathLst>
                <a:path h="103632" w="6580632">
                  <a:moveTo>
                    <a:pt x="0" y="0"/>
                  </a:moveTo>
                  <a:lnTo>
                    <a:pt x="6580632" y="0"/>
                  </a:lnTo>
                  <a:lnTo>
                    <a:pt x="6580632" y="103632"/>
                  </a:lnTo>
                  <a:lnTo>
                    <a:pt x="0" y="103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238804" y="1809750"/>
            <a:ext cx="601218" cy="1200150"/>
            <a:chOff x="0" y="0"/>
            <a:chExt cx="801624" cy="1600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01624" cy="1600200"/>
            </a:xfrm>
            <a:custGeom>
              <a:avLst/>
              <a:gdLst/>
              <a:ahLst/>
              <a:cxnLst/>
              <a:rect r="r" b="b" t="t" l="l"/>
              <a:pathLst>
                <a:path h="1600200" w="801624">
                  <a:moveTo>
                    <a:pt x="0" y="0"/>
                  </a:moveTo>
                  <a:lnTo>
                    <a:pt x="801624" y="0"/>
                  </a:lnTo>
                  <a:lnTo>
                    <a:pt x="801624" y="1600200"/>
                  </a:lnTo>
                  <a:lnTo>
                    <a:pt x="0" y="160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88921" t="0" r="52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5885688" y="1809750"/>
            <a:ext cx="77724" cy="1200150"/>
          </a:xfrm>
          <a:custGeom>
            <a:avLst/>
            <a:gdLst/>
            <a:ahLst/>
            <a:cxnLst/>
            <a:rect r="r" b="b" t="t" l="l"/>
            <a:pathLst>
              <a:path h="1200150" w="77724">
                <a:moveTo>
                  <a:pt x="0" y="0"/>
                </a:moveTo>
                <a:lnTo>
                  <a:pt x="77724" y="0"/>
                </a:lnTo>
                <a:lnTo>
                  <a:pt x="77724" y="1200150"/>
                </a:lnTo>
                <a:lnTo>
                  <a:pt x="0" y="120015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904547" y="3162110"/>
            <a:ext cx="4926330" cy="1191006"/>
          </a:xfrm>
          <a:custGeom>
            <a:avLst/>
            <a:gdLst/>
            <a:ahLst/>
            <a:cxnLst/>
            <a:rect r="r" b="b" t="t" l="l"/>
            <a:pathLst>
              <a:path h="1191006" w="4926330">
                <a:moveTo>
                  <a:pt x="0" y="0"/>
                </a:moveTo>
                <a:lnTo>
                  <a:pt x="4926331" y="0"/>
                </a:lnTo>
                <a:lnTo>
                  <a:pt x="4926331" y="1191006"/>
                </a:lnTo>
                <a:lnTo>
                  <a:pt x="0" y="119100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5904738" y="3152013"/>
            <a:ext cx="4935474" cy="77724"/>
            <a:chOff x="0" y="0"/>
            <a:chExt cx="6580632" cy="10363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580632" cy="103632"/>
            </a:xfrm>
            <a:custGeom>
              <a:avLst/>
              <a:gdLst/>
              <a:ahLst/>
              <a:cxnLst/>
              <a:rect r="r" b="b" t="t" l="l"/>
              <a:pathLst>
                <a:path h="103632" w="6580632">
                  <a:moveTo>
                    <a:pt x="0" y="0"/>
                  </a:moveTo>
                  <a:lnTo>
                    <a:pt x="6580632" y="0"/>
                  </a:lnTo>
                  <a:lnTo>
                    <a:pt x="6580632" y="103632"/>
                  </a:lnTo>
                  <a:lnTo>
                    <a:pt x="0" y="103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904738" y="4285488"/>
            <a:ext cx="4935474" cy="77724"/>
            <a:chOff x="0" y="0"/>
            <a:chExt cx="6580632" cy="10363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580632" cy="103632"/>
            </a:xfrm>
            <a:custGeom>
              <a:avLst/>
              <a:gdLst/>
              <a:ahLst/>
              <a:cxnLst/>
              <a:rect r="r" b="b" t="t" l="l"/>
              <a:pathLst>
                <a:path h="103632" w="6580632">
                  <a:moveTo>
                    <a:pt x="0" y="0"/>
                  </a:moveTo>
                  <a:lnTo>
                    <a:pt x="6580632" y="0"/>
                  </a:lnTo>
                  <a:lnTo>
                    <a:pt x="6580632" y="103632"/>
                  </a:lnTo>
                  <a:lnTo>
                    <a:pt x="0" y="103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234136" y="3151822"/>
            <a:ext cx="605790" cy="1211580"/>
            <a:chOff x="0" y="0"/>
            <a:chExt cx="807720" cy="16154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07720" cy="1615440"/>
            </a:xfrm>
            <a:custGeom>
              <a:avLst/>
              <a:gdLst/>
              <a:ahLst/>
              <a:cxnLst/>
              <a:rect r="r" b="b" t="t" l="l"/>
              <a:pathLst>
                <a:path h="1615440" w="807720">
                  <a:moveTo>
                    <a:pt x="0" y="0"/>
                  </a:moveTo>
                  <a:lnTo>
                    <a:pt x="807720" y="0"/>
                  </a:lnTo>
                  <a:lnTo>
                    <a:pt x="807720" y="1615440"/>
                  </a:lnTo>
                  <a:lnTo>
                    <a:pt x="0" y="1615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89020" t="0" r="36" b="0"/>
              </a:stretch>
            </a:blip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5885688" y="3151822"/>
            <a:ext cx="77724" cy="1211580"/>
          </a:xfrm>
          <a:custGeom>
            <a:avLst/>
            <a:gdLst/>
            <a:ahLst/>
            <a:cxnLst/>
            <a:rect r="r" b="b" t="t" l="l"/>
            <a:pathLst>
              <a:path h="1211580" w="77724">
                <a:moveTo>
                  <a:pt x="0" y="0"/>
                </a:moveTo>
                <a:lnTo>
                  <a:pt x="77724" y="0"/>
                </a:lnTo>
                <a:lnTo>
                  <a:pt x="77724" y="1211580"/>
                </a:lnTo>
                <a:lnTo>
                  <a:pt x="0" y="121158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5904547" y="4514660"/>
            <a:ext cx="4926330" cy="1191006"/>
          </a:xfrm>
          <a:custGeom>
            <a:avLst/>
            <a:gdLst/>
            <a:ahLst/>
            <a:cxnLst/>
            <a:rect r="r" b="b" t="t" l="l"/>
            <a:pathLst>
              <a:path h="1191006" w="4926330">
                <a:moveTo>
                  <a:pt x="0" y="0"/>
                </a:moveTo>
                <a:lnTo>
                  <a:pt x="4926331" y="0"/>
                </a:lnTo>
                <a:lnTo>
                  <a:pt x="4926331" y="1191006"/>
                </a:lnTo>
                <a:lnTo>
                  <a:pt x="0" y="119100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5904738" y="4504563"/>
            <a:ext cx="4935474" cy="77724"/>
            <a:chOff x="0" y="0"/>
            <a:chExt cx="6580632" cy="10363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580632" cy="103632"/>
            </a:xfrm>
            <a:custGeom>
              <a:avLst/>
              <a:gdLst/>
              <a:ahLst/>
              <a:cxnLst/>
              <a:rect r="r" b="b" t="t" l="l"/>
              <a:pathLst>
                <a:path h="103632" w="6580632">
                  <a:moveTo>
                    <a:pt x="0" y="0"/>
                  </a:moveTo>
                  <a:lnTo>
                    <a:pt x="6580632" y="0"/>
                  </a:lnTo>
                  <a:lnTo>
                    <a:pt x="6580632" y="103632"/>
                  </a:lnTo>
                  <a:lnTo>
                    <a:pt x="0" y="103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904738" y="5638038"/>
            <a:ext cx="4935474" cy="77724"/>
            <a:chOff x="0" y="0"/>
            <a:chExt cx="6580632" cy="10363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580632" cy="103632"/>
            </a:xfrm>
            <a:custGeom>
              <a:avLst/>
              <a:gdLst/>
              <a:ahLst/>
              <a:cxnLst/>
              <a:rect r="r" b="b" t="t" l="l"/>
              <a:pathLst>
                <a:path h="103632" w="6580632">
                  <a:moveTo>
                    <a:pt x="0" y="0"/>
                  </a:moveTo>
                  <a:lnTo>
                    <a:pt x="6580632" y="0"/>
                  </a:lnTo>
                  <a:lnTo>
                    <a:pt x="6580632" y="103632"/>
                  </a:lnTo>
                  <a:lnTo>
                    <a:pt x="0" y="103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234136" y="4504372"/>
            <a:ext cx="605790" cy="1211580"/>
            <a:chOff x="0" y="0"/>
            <a:chExt cx="807720" cy="16154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07720" cy="1615440"/>
            </a:xfrm>
            <a:custGeom>
              <a:avLst/>
              <a:gdLst/>
              <a:ahLst/>
              <a:cxnLst/>
              <a:rect r="r" b="b" t="t" l="l"/>
              <a:pathLst>
                <a:path h="1615440" w="807720">
                  <a:moveTo>
                    <a:pt x="0" y="0"/>
                  </a:moveTo>
                  <a:lnTo>
                    <a:pt x="807720" y="0"/>
                  </a:lnTo>
                  <a:lnTo>
                    <a:pt x="807720" y="1615440"/>
                  </a:lnTo>
                  <a:lnTo>
                    <a:pt x="0" y="1615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89020" t="0" r="36" b="0"/>
              </a:stretch>
            </a:blipFill>
          </p:spPr>
        </p:sp>
      </p:grpSp>
      <p:sp>
        <p:nvSpPr>
          <p:cNvPr name="Freeform 29" id="29"/>
          <p:cNvSpPr/>
          <p:nvPr/>
        </p:nvSpPr>
        <p:spPr>
          <a:xfrm flipH="false" flipV="false" rot="0">
            <a:off x="5885688" y="4504372"/>
            <a:ext cx="77724" cy="1211580"/>
          </a:xfrm>
          <a:custGeom>
            <a:avLst/>
            <a:gdLst/>
            <a:ahLst/>
            <a:cxnLst/>
            <a:rect r="r" b="b" t="t" l="l"/>
            <a:pathLst>
              <a:path h="1211580" w="77724">
                <a:moveTo>
                  <a:pt x="0" y="0"/>
                </a:moveTo>
                <a:lnTo>
                  <a:pt x="77724" y="0"/>
                </a:lnTo>
                <a:lnTo>
                  <a:pt x="77724" y="1211580"/>
                </a:lnTo>
                <a:lnTo>
                  <a:pt x="0" y="121158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600075" y="546116"/>
            <a:ext cx="4625092" cy="499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3"/>
              </a:lnSpc>
            </a:pPr>
            <a:r>
              <a:rPr lang="en-US" sz="2952">
                <a:solidFill>
                  <a:srgbClr val="091C5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Objetivo e Estrutura Geral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42195" y="1358951"/>
            <a:ext cx="4914005" cy="208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66"/>
              </a:lnSpc>
            </a:pPr>
            <a:r>
              <a:rPr lang="en-US" sz="1476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Objetivo</a:t>
            </a:r>
          </a:p>
          <a:p>
            <a:pPr algn="just">
              <a:lnSpc>
                <a:spcPts val="1893"/>
              </a:lnSpc>
            </a:pPr>
            <a:r>
              <a:rPr lang="en-US" sz="1181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RPG de exploração em grade (grid) desenvolvido inteiramente em HTML, CSS e JavaScript puro, sem frameworks externos. O jogador explora um mapa desconhecido, encontra criaturas e baús, coleta equipamentos, participa de combates por turno e evolui até concluir toda a exploração do mapa. O projeto utiliza uma arquitetura baseada em máquina de estados (State Machine), controlando todas as ações do jogador através de estados definidos.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133652" y="3283001"/>
            <a:ext cx="4355059" cy="88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2"/>
              </a:lnSpc>
            </a:pPr>
            <a:r>
              <a:rPr lang="en-US" sz="1476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CSS</a:t>
            </a:r>
          </a:p>
          <a:p>
            <a:pPr algn="l">
              <a:lnSpc>
                <a:spcPts val="1874"/>
              </a:lnSpc>
            </a:pP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Identidade visual retrô, scanlines CRT, gradientes, texturas de grama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133652" y="4635551"/>
            <a:ext cx="4426563" cy="88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2"/>
              </a:lnSpc>
            </a:pPr>
            <a:r>
              <a:rPr lang="en-US" sz="1476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JavaScript</a:t>
            </a:r>
          </a:p>
          <a:p>
            <a:pPr algn="l">
              <a:lnSpc>
                <a:spcPts val="1874"/>
              </a:lnSpc>
            </a:pP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Estado do jogo, renderização, exploração, combate, inventário, eventos e máquina de estados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907434" y="1387526"/>
            <a:ext cx="2189712" cy="254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091C5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Três Camadas Principais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133652" y="1930451"/>
            <a:ext cx="4396502" cy="88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2"/>
              </a:lnSpc>
            </a:pPr>
            <a:r>
              <a:rPr lang="en-US" sz="1476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HTML</a:t>
            </a:r>
          </a:p>
          <a:p>
            <a:pPr algn="l">
              <a:lnSpc>
                <a:spcPts val="1874"/>
              </a:lnSpc>
            </a:pP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Sidebar esquerda (inventário, status, informações do inimigo), área principal (título, console, tabuleiro 8×8, controles)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381"/>
            <a:ext cx="11430000" cy="6439662"/>
          </a:xfrm>
          <a:custGeom>
            <a:avLst/>
            <a:gdLst/>
            <a:ahLst/>
            <a:cxnLst/>
            <a:rect r="r" b="b" t="t" l="l"/>
            <a:pathLst>
              <a:path h="6439662" w="11430000">
                <a:moveTo>
                  <a:pt x="0" y="0"/>
                </a:moveTo>
                <a:lnTo>
                  <a:pt x="11430000" y="0"/>
                </a:lnTo>
                <a:lnTo>
                  <a:pt x="11430000" y="6439662"/>
                </a:lnTo>
                <a:lnTo>
                  <a:pt x="0" y="6439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72" y="4191"/>
            <a:ext cx="11420856" cy="6430518"/>
          </a:xfrm>
          <a:custGeom>
            <a:avLst/>
            <a:gdLst/>
            <a:ahLst/>
            <a:cxnLst/>
            <a:rect r="r" b="b" t="t" l="l"/>
            <a:pathLst>
              <a:path h="6430518" w="11420856">
                <a:moveTo>
                  <a:pt x="0" y="0"/>
                </a:moveTo>
                <a:lnTo>
                  <a:pt x="11420856" y="0"/>
                </a:lnTo>
                <a:lnTo>
                  <a:pt x="11420856" y="6430518"/>
                </a:lnTo>
                <a:lnTo>
                  <a:pt x="0" y="64305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-381"/>
            <a:ext cx="11430000" cy="6439662"/>
          </a:xfrm>
          <a:custGeom>
            <a:avLst/>
            <a:gdLst/>
            <a:ahLst/>
            <a:cxnLst/>
            <a:rect r="r" b="b" t="t" l="l"/>
            <a:pathLst>
              <a:path h="6439662" w="11430000">
                <a:moveTo>
                  <a:pt x="0" y="0"/>
                </a:moveTo>
                <a:lnTo>
                  <a:pt x="11430000" y="0"/>
                </a:lnTo>
                <a:lnTo>
                  <a:pt x="11430000" y="6439662"/>
                </a:lnTo>
                <a:lnTo>
                  <a:pt x="0" y="6439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18934" y="2762060"/>
            <a:ext cx="48006" cy="48006"/>
          </a:xfrm>
          <a:custGeom>
            <a:avLst/>
            <a:gdLst/>
            <a:ahLst/>
            <a:cxnLst/>
            <a:rect r="r" b="b" t="t" l="l"/>
            <a:pathLst>
              <a:path h="48006" w="48006">
                <a:moveTo>
                  <a:pt x="0" y="0"/>
                </a:moveTo>
                <a:lnTo>
                  <a:pt x="48006" y="0"/>
                </a:lnTo>
                <a:lnTo>
                  <a:pt x="48006" y="48006"/>
                </a:lnTo>
                <a:lnTo>
                  <a:pt x="0" y="480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18934" y="3295460"/>
            <a:ext cx="48006" cy="48006"/>
          </a:xfrm>
          <a:custGeom>
            <a:avLst/>
            <a:gdLst/>
            <a:ahLst/>
            <a:cxnLst/>
            <a:rect r="r" b="b" t="t" l="l"/>
            <a:pathLst>
              <a:path h="48006" w="48006">
                <a:moveTo>
                  <a:pt x="0" y="0"/>
                </a:moveTo>
                <a:lnTo>
                  <a:pt x="48006" y="0"/>
                </a:lnTo>
                <a:lnTo>
                  <a:pt x="48006" y="48006"/>
                </a:lnTo>
                <a:lnTo>
                  <a:pt x="0" y="480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905310" y="2942654"/>
            <a:ext cx="2391156" cy="1172718"/>
          </a:xfrm>
          <a:custGeom>
            <a:avLst/>
            <a:gdLst/>
            <a:ahLst/>
            <a:cxnLst/>
            <a:rect r="r" b="b" t="t" l="l"/>
            <a:pathLst>
              <a:path h="1172718" w="2391156">
                <a:moveTo>
                  <a:pt x="0" y="0"/>
                </a:moveTo>
                <a:lnTo>
                  <a:pt x="2391156" y="0"/>
                </a:lnTo>
                <a:lnTo>
                  <a:pt x="2391156" y="1172717"/>
                </a:lnTo>
                <a:lnTo>
                  <a:pt x="0" y="11727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448484" y="2942654"/>
            <a:ext cx="2391156" cy="1172718"/>
          </a:xfrm>
          <a:custGeom>
            <a:avLst/>
            <a:gdLst/>
            <a:ahLst/>
            <a:cxnLst/>
            <a:rect r="r" b="b" t="t" l="l"/>
            <a:pathLst>
              <a:path h="1172718" w="2391156">
                <a:moveTo>
                  <a:pt x="0" y="0"/>
                </a:moveTo>
                <a:lnTo>
                  <a:pt x="2391156" y="0"/>
                </a:lnTo>
                <a:lnTo>
                  <a:pt x="2391156" y="1172717"/>
                </a:lnTo>
                <a:lnTo>
                  <a:pt x="0" y="11727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904738" y="4266438"/>
            <a:ext cx="4935474" cy="934974"/>
          </a:xfrm>
          <a:custGeom>
            <a:avLst/>
            <a:gdLst/>
            <a:ahLst/>
            <a:cxnLst/>
            <a:rect r="r" b="b" t="t" l="l"/>
            <a:pathLst>
              <a:path h="934974" w="4935474">
                <a:moveTo>
                  <a:pt x="0" y="0"/>
                </a:moveTo>
                <a:lnTo>
                  <a:pt x="4935474" y="0"/>
                </a:lnTo>
                <a:lnTo>
                  <a:pt x="4935474" y="934974"/>
                </a:lnTo>
                <a:lnTo>
                  <a:pt x="0" y="93497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00075" y="1050941"/>
            <a:ext cx="5997121" cy="499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3"/>
              </a:lnSpc>
            </a:pPr>
            <a:r>
              <a:rPr lang="en-US" sz="2952">
                <a:solidFill>
                  <a:srgbClr val="091C5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Interface Gráfica e Sistema Visual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0075" y="1901876"/>
            <a:ext cx="3316653" cy="616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091C5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Especificações da Interface</a:t>
            </a:r>
          </a:p>
          <a:p>
            <a:pPr algn="l">
              <a:lnSpc>
                <a:spcPts val="1653"/>
              </a:lnSpc>
            </a:pP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Resolução fixa de 850 × 850 pixels dividida em: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290815" y="4406951"/>
            <a:ext cx="1085431" cy="254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Barra de HP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290815" y="3082976"/>
            <a:ext cx="1193597" cy="254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Tema Escuro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907434" y="1873301"/>
            <a:ext cx="4729105" cy="744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2"/>
              </a:lnSpc>
            </a:pPr>
            <a:r>
              <a:rPr lang="en-US" sz="1476">
                <a:solidFill>
                  <a:srgbClr val="091C5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Identidade Visual Retrô</a:t>
            </a:r>
          </a:p>
          <a:p>
            <a:pPr algn="l">
              <a:lnSpc>
                <a:spcPts val="1874"/>
              </a:lnSpc>
            </a:pP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Inspirada em RPGs dos anos 90, com tema escuro e fonte pixelada. Marcadores por emoji: </a:t>
            </a:r>
            <a:r>
              <a:rPr lang="en-US" sz="1181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🧙</a:t>
            </a: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Jogador, 👺 Inimigo, </a:t>
            </a:r>
            <a:r>
              <a:rPr lang="en-US" sz="1181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📦</a:t>
            </a: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Baú.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831761" y="3082976"/>
            <a:ext cx="1334462" cy="254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Scanlines CRT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39991" y="2646512"/>
            <a:ext cx="4806677" cy="100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Sidebar Esquerda: Inventário, HP, ATK, DEF e informações do inimigo durante combate</a:t>
            </a:r>
          </a:p>
          <a:p>
            <a:pPr algn="l">
              <a:lnSpc>
                <a:spcPts val="2550"/>
              </a:lnSpc>
            </a:pP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Área Principal: Nome do jogo, console de mensagens, tabuleiro 8×8 </a:t>
            </a:r>
          </a:p>
          <a:p>
            <a:pPr algn="l">
              <a:lnSpc>
                <a:spcPts val="1200"/>
              </a:lnSpc>
            </a:pP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 controles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00075" y="3808562"/>
            <a:ext cx="5045621" cy="46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O mapa utiliza notação semelhante ao xadrez (A1, B4, C7, H8). A posição inicial do jogador é A1 (internamente: row = 7, col = 0).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057452" y="3475187"/>
            <a:ext cx="1941366" cy="218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Fonte pixelada e atmosfera sombria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057452" y="4818212"/>
            <a:ext cx="2218773" cy="20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Gradientes e texturas de grama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598398" y="3494237"/>
            <a:ext cx="2039588" cy="20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Simulação de monitor antigo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057452" y="4362431"/>
            <a:ext cx="238068" cy="261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❤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057452" y="3035932"/>
            <a:ext cx="238068" cy="26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🎨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598398" y="3038456"/>
            <a:ext cx="238068" cy="261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📺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381"/>
            <a:ext cx="11430000" cy="6439662"/>
          </a:xfrm>
          <a:custGeom>
            <a:avLst/>
            <a:gdLst/>
            <a:ahLst/>
            <a:cxnLst/>
            <a:rect r="r" b="b" t="t" l="l"/>
            <a:pathLst>
              <a:path h="6439662" w="11430000">
                <a:moveTo>
                  <a:pt x="0" y="0"/>
                </a:moveTo>
                <a:lnTo>
                  <a:pt x="11430000" y="0"/>
                </a:lnTo>
                <a:lnTo>
                  <a:pt x="11430000" y="6439662"/>
                </a:lnTo>
                <a:lnTo>
                  <a:pt x="0" y="6439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72" y="4191"/>
            <a:ext cx="11420856" cy="6430518"/>
          </a:xfrm>
          <a:custGeom>
            <a:avLst/>
            <a:gdLst/>
            <a:ahLst/>
            <a:cxnLst/>
            <a:rect r="r" b="b" t="t" l="l"/>
            <a:pathLst>
              <a:path h="6430518" w="11420856">
                <a:moveTo>
                  <a:pt x="0" y="0"/>
                </a:moveTo>
                <a:lnTo>
                  <a:pt x="11420856" y="0"/>
                </a:lnTo>
                <a:lnTo>
                  <a:pt x="11420856" y="6430518"/>
                </a:lnTo>
                <a:lnTo>
                  <a:pt x="0" y="64305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-381"/>
            <a:ext cx="11430000" cy="6439662"/>
          </a:xfrm>
          <a:custGeom>
            <a:avLst/>
            <a:gdLst/>
            <a:ahLst/>
            <a:cxnLst/>
            <a:rect r="r" b="b" t="t" l="l"/>
            <a:pathLst>
              <a:path h="6439662" w="11430000">
                <a:moveTo>
                  <a:pt x="0" y="0"/>
                </a:moveTo>
                <a:lnTo>
                  <a:pt x="11430000" y="0"/>
                </a:lnTo>
                <a:lnTo>
                  <a:pt x="11430000" y="6439662"/>
                </a:lnTo>
                <a:lnTo>
                  <a:pt x="0" y="6439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9214" y="2979229"/>
            <a:ext cx="3376422" cy="1899666"/>
          </a:xfrm>
          <a:custGeom>
            <a:avLst/>
            <a:gdLst/>
            <a:ahLst/>
            <a:cxnLst/>
            <a:rect r="r" b="b" t="t" l="l"/>
            <a:pathLst>
              <a:path h="1899666" w="3376422">
                <a:moveTo>
                  <a:pt x="0" y="0"/>
                </a:moveTo>
                <a:lnTo>
                  <a:pt x="3376422" y="0"/>
                </a:lnTo>
                <a:lnTo>
                  <a:pt x="3376422" y="1899667"/>
                </a:lnTo>
                <a:lnTo>
                  <a:pt x="0" y="18996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18363" y="3028760"/>
            <a:ext cx="3278124" cy="448056"/>
          </a:xfrm>
          <a:custGeom>
            <a:avLst/>
            <a:gdLst/>
            <a:ahLst/>
            <a:cxnLst/>
            <a:rect r="r" b="b" t="t" l="l"/>
            <a:pathLst>
              <a:path h="448056" w="3278124">
                <a:moveTo>
                  <a:pt x="0" y="0"/>
                </a:moveTo>
                <a:lnTo>
                  <a:pt x="3278124" y="0"/>
                </a:lnTo>
                <a:lnTo>
                  <a:pt x="3278124" y="448056"/>
                </a:lnTo>
                <a:lnTo>
                  <a:pt x="0" y="4480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026789" y="2979229"/>
            <a:ext cx="3376422" cy="1899666"/>
          </a:xfrm>
          <a:custGeom>
            <a:avLst/>
            <a:gdLst/>
            <a:ahLst/>
            <a:cxnLst/>
            <a:rect r="r" b="b" t="t" l="l"/>
            <a:pathLst>
              <a:path h="1899666" w="3376422">
                <a:moveTo>
                  <a:pt x="0" y="0"/>
                </a:moveTo>
                <a:lnTo>
                  <a:pt x="3376422" y="0"/>
                </a:lnTo>
                <a:lnTo>
                  <a:pt x="3376422" y="1899667"/>
                </a:lnTo>
                <a:lnTo>
                  <a:pt x="0" y="189966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075938" y="3028760"/>
            <a:ext cx="3278124" cy="448056"/>
          </a:xfrm>
          <a:custGeom>
            <a:avLst/>
            <a:gdLst/>
            <a:ahLst/>
            <a:cxnLst/>
            <a:rect r="r" b="b" t="t" l="l"/>
            <a:pathLst>
              <a:path h="448056" w="3278124">
                <a:moveTo>
                  <a:pt x="0" y="0"/>
                </a:moveTo>
                <a:lnTo>
                  <a:pt x="3278124" y="0"/>
                </a:lnTo>
                <a:lnTo>
                  <a:pt x="3278124" y="448056"/>
                </a:lnTo>
                <a:lnTo>
                  <a:pt x="0" y="44805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494842" y="2979229"/>
            <a:ext cx="3364992" cy="1899666"/>
          </a:xfrm>
          <a:custGeom>
            <a:avLst/>
            <a:gdLst/>
            <a:ahLst/>
            <a:cxnLst/>
            <a:rect r="r" b="b" t="t" l="l"/>
            <a:pathLst>
              <a:path h="1899666" w="3364992">
                <a:moveTo>
                  <a:pt x="0" y="0"/>
                </a:moveTo>
                <a:lnTo>
                  <a:pt x="3364992" y="0"/>
                </a:lnTo>
                <a:lnTo>
                  <a:pt x="3364992" y="1899667"/>
                </a:lnTo>
                <a:lnTo>
                  <a:pt x="0" y="189966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542847" y="3028760"/>
            <a:ext cx="3268980" cy="448056"/>
          </a:xfrm>
          <a:custGeom>
            <a:avLst/>
            <a:gdLst/>
            <a:ahLst/>
            <a:cxnLst/>
            <a:rect r="r" b="b" t="t" l="l"/>
            <a:pathLst>
              <a:path h="448056" w="3268980">
                <a:moveTo>
                  <a:pt x="0" y="0"/>
                </a:moveTo>
                <a:lnTo>
                  <a:pt x="3268981" y="0"/>
                </a:lnTo>
                <a:lnTo>
                  <a:pt x="3268981" y="448056"/>
                </a:lnTo>
                <a:lnTo>
                  <a:pt x="0" y="44805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00075" y="1574816"/>
            <a:ext cx="4981127" cy="499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3"/>
              </a:lnSpc>
            </a:pPr>
            <a:r>
              <a:rPr lang="en-US" sz="2952">
                <a:solidFill>
                  <a:srgbClr val="091C5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Sistema de Mapa e Matrizes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8585" y="2370287"/>
            <a:ext cx="30147" cy="20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69144" y="3932387"/>
            <a:ext cx="2600506" cy="72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5"/>
              </a:lnSpc>
            </a:pP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Responsável pela lógica do jogo. Armazena o estado de cada célula: 0 (segura), 1 (criatura) ou 2 (baú).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229100" y="3932387"/>
            <a:ext cx="2530211" cy="72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5"/>
              </a:lnSpc>
            </a:pP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Responsável pela aparência visual. Gerencia os estados de cada célula: unexplored, explored e current.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689056" y="3932387"/>
            <a:ext cx="2787386" cy="72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5"/>
              </a:lnSpc>
            </a:pP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Armazena objetos permanentes como goblin, chest ou null. Desacopla a representação gráfica da lógica interna.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0075" y="2370287"/>
            <a:ext cx="10394309" cy="214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Omapa possui 8linhas×8 colunas,totalizando64células.Cada célulapode ser: 0 = segura, 1 = criatura, 2 = baú. Durante a geração procedural: 70%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00075" y="2608412"/>
            <a:ext cx="5157283" cy="214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células vazias, 15% criaturas e 15% baús. A posição inicial é sempre segura.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211438" y="3107084"/>
            <a:ext cx="88811" cy="299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652345" y="3107084"/>
            <a:ext cx="127816" cy="299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09767" y="3107084"/>
            <a:ext cx="132874" cy="299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69144" y="3616376"/>
            <a:ext cx="1018918" cy="254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logicMatrix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229100" y="3616376"/>
            <a:ext cx="1095937" cy="254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visualMatrix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689056" y="3616376"/>
            <a:ext cx="1109891" cy="254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entityMatrix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381"/>
            <a:ext cx="11430000" cy="6439662"/>
          </a:xfrm>
          <a:custGeom>
            <a:avLst/>
            <a:gdLst/>
            <a:ahLst/>
            <a:cxnLst/>
            <a:rect r="r" b="b" t="t" l="l"/>
            <a:pathLst>
              <a:path h="6439662" w="11430000">
                <a:moveTo>
                  <a:pt x="0" y="0"/>
                </a:moveTo>
                <a:lnTo>
                  <a:pt x="11430000" y="0"/>
                </a:lnTo>
                <a:lnTo>
                  <a:pt x="11430000" y="6439662"/>
                </a:lnTo>
                <a:lnTo>
                  <a:pt x="0" y="6439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72" y="4191"/>
            <a:ext cx="11420856" cy="6430518"/>
          </a:xfrm>
          <a:custGeom>
            <a:avLst/>
            <a:gdLst/>
            <a:ahLst/>
            <a:cxnLst/>
            <a:rect r="r" b="b" t="t" l="l"/>
            <a:pathLst>
              <a:path h="6430518" w="11420856">
                <a:moveTo>
                  <a:pt x="0" y="0"/>
                </a:moveTo>
                <a:lnTo>
                  <a:pt x="11420856" y="0"/>
                </a:lnTo>
                <a:lnTo>
                  <a:pt x="11420856" y="6430518"/>
                </a:lnTo>
                <a:lnTo>
                  <a:pt x="0" y="64305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-381"/>
            <a:ext cx="11430000" cy="6439662"/>
          </a:xfrm>
          <a:custGeom>
            <a:avLst/>
            <a:gdLst/>
            <a:ahLst/>
            <a:cxnLst/>
            <a:rect r="r" b="b" t="t" l="l"/>
            <a:pathLst>
              <a:path h="6439662" w="11430000">
                <a:moveTo>
                  <a:pt x="0" y="0"/>
                </a:moveTo>
                <a:lnTo>
                  <a:pt x="11430000" y="0"/>
                </a:lnTo>
                <a:lnTo>
                  <a:pt x="11430000" y="6439662"/>
                </a:lnTo>
                <a:lnTo>
                  <a:pt x="0" y="6439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485769" y="3600069"/>
            <a:ext cx="781812" cy="324612"/>
          </a:xfrm>
          <a:custGeom>
            <a:avLst/>
            <a:gdLst/>
            <a:ahLst/>
            <a:cxnLst/>
            <a:rect r="r" b="b" t="t" l="l"/>
            <a:pathLst>
              <a:path h="324612" w="781812">
                <a:moveTo>
                  <a:pt x="0" y="0"/>
                </a:moveTo>
                <a:lnTo>
                  <a:pt x="781812" y="0"/>
                </a:lnTo>
                <a:lnTo>
                  <a:pt x="781812" y="324612"/>
                </a:lnTo>
                <a:lnTo>
                  <a:pt x="0" y="3246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800725" y="1837753"/>
            <a:ext cx="5143500" cy="3458718"/>
          </a:xfrm>
          <a:custGeom>
            <a:avLst/>
            <a:gdLst/>
            <a:ahLst/>
            <a:cxnLst/>
            <a:rect r="r" b="b" t="t" l="l"/>
            <a:pathLst>
              <a:path h="3458718" w="5143500">
                <a:moveTo>
                  <a:pt x="0" y="0"/>
                </a:moveTo>
                <a:lnTo>
                  <a:pt x="5143500" y="0"/>
                </a:lnTo>
                <a:lnTo>
                  <a:pt x="5143500" y="3458719"/>
                </a:lnTo>
                <a:lnTo>
                  <a:pt x="0" y="34587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953125" y="2390394"/>
            <a:ext cx="2343150" cy="1410462"/>
          </a:xfrm>
          <a:custGeom>
            <a:avLst/>
            <a:gdLst/>
            <a:ahLst/>
            <a:cxnLst/>
            <a:rect r="r" b="b" t="t" l="l"/>
            <a:pathLst>
              <a:path h="1410462" w="2343150">
                <a:moveTo>
                  <a:pt x="0" y="0"/>
                </a:moveTo>
                <a:lnTo>
                  <a:pt x="2343150" y="0"/>
                </a:lnTo>
                <a:lnTo>
                  <a:pt x="2343150" y="1410462"/>
                </a:lnTo>
                <a:lnTo>
                  <a:pt x="0" y="14104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447722" y="2390394"/>
            <a:ext cx="2354580" cy="1410462"/>
          </a:xfrm>
          <a:custGeom>
            <a:avLst/>
            <a:gdLst/>
            <a:ahLst/>
            <a:cxnLst/>
            <a:rect r="r" b="b" t="t" l="l"/>
            <a:pathLst>
              <a:path h="1410462" w="2354580">
                <a:moveTo>
                  <a:pt x="0" y="0"/>
                </a:moveTo>
                <a:lnTo>
                  <a:pt x="2354580" y="0"/>
                </a:lnTo>
                <a:lnTo>
                  <a:pt x="2354580" y="1410462"/>
                </a:lnTo>
                <a:lnTo>
                  <a:pt x="0" y="14104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952934" y="3952304"/>
            <a:ext cx="4848606" cy="1172718"/>
          </a:xfrm>
          <a:custGeom>
            <a:avLst/>
            <a:gdLst/>
            <a:ahLst/>
            <a:cxnLst/>
            <a:rect r="r" b="b" t="t" l="l"/>
            <a:pathLst>
              <a:path h="1172718" w="4848606">
                <a:moveTo>
                  <a:pt x="0" y="0"/>
                </a:moveTo>
                <a:lnTo>
                  <a:pt x="4848607" y="0"/>
                </a:lnTo>
                <a:lnTo>
                  <a:pt x="4848607" y="1172717"/>
                </a:lnTo>
                <a:lnTo>
                  <a:pt x="0" y="117271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00075" y="1079516"/>
            <a:ext cx="5372691" cy="2765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6"/>
              </a:lnSpc>
            </a:pPr>
            <a:r>
              <a:rPr lang="en-US" sz="2952">
                <a:solidFill>
                  <a:srgbClr val="091C5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Jogador, Inventário e Raridade</a:t>
            </a:r>
          </a:p>
          <a:p>
            <a:pPr algn="l">
              <a:lnSpc>
                <a:spcPts val="2342"/>
              </a:lnSpc>
            </a:pPr>
            <a:r>
              <a:rPr lang="en-US" sz="1476">
                <a:solidFill>
                  <a:srgbClr val="091C5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Atributos do Jogador</a:t>
            </a:r>
          </a:p>
          <a:p>
            <a:pPr algn="l">
              <a:lnSpc>
                <a:spcPts val="1874"/>
              </a:lnSpc>
            </a:pP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O estado inicial do jogador contém: HP = 100, ATK = 2, DEF = 0. A </a:t>
            </a:r>
          </a:p>
          <a:p>
            <a:pPr algn="l">
              <a:lnSpc>
                <a:spcPts val="1874"/>
              </a:lnSpc>
            </a:pP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estrutura também inclui HP máximo e o Amuleto da Vida (item raro </a:t>
            </a:r>
          </a:p>
          <a:p>
            <a:pPr algn="l">
              <a:lnSpc>
                <a:spcPts val="1874"/>
              </a:lnSpc>
            </a:pP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passivo).</a:t>
            </a:r>
          </a:p>
          <a:p>
            <a:pPr algn="l">
              <a:lnSpc>
                <a:spcPts val="2342"/>
              </a:lnSpc>
            </a:pPr>
            <a:r>
              <a:rPr lang="en-US" sz="1476">
                <a:solidFill>
                  <a:srgbClr val="091C5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Inventário</a:t>
            </a:r>
          </a:p>
          <a:p>
            <a:pPr algn="l">
              <a:lnSpc>
                <a:spcPts val="1874"/>
              </a:lnSpc>
            </a:pP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Os itens ficam armazenados em um vetor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332934" y="4092626"/>
            <a:ext cx="1026957" cy="254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Raro — 15%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949553" y="1978076"/>
            <a:ext cx="1837296" cy="254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Sistema de Raridade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099572" y="2466956"/>
            <a:ext cx="1806111" cy="1139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2"/>
              </a:lnSpc>
            </a:pPr>
            <a:r>
              <a:rPr lang="en-US" sz="1476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⚪ Comum — 60%</a:t>
            </a:r>
          </a:p>
          <a:p>
            <a:pPr algn="l">
              <a:lnSpc>
                <a:spcPts val="1874"/>
              </a:lnSpc>
            </a:pPr>
            <a:r>
              <a:rPr lang="en-US" sz="1181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Espada de Madeira, Armadura Velha, Escudo, Pinga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831761" y="2530526"/>
            <a:ext cx="1207951" cy="254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Médio — 25%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00075" y="3894287"/>
            <a:ext cx="3250263" cy="20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possui: nome, tipo, raridade, efeito e atributos.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256037" y="3637112"/>
            <a:ext cx="827570" cy="20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. Cada item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98398" y="2922737"/>
            <a:ext cx="1802559" cy="704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181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Espada Velha, Espada Amaldiçoada, Armadura Amaldiçoada, Bandagens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099572" y="4484837"/>
            <a:ext cx="4667621" cy="46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181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Espada do Anjo, Armadura do Anjo, Escudo Angelical, Amuleto da Vida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488979" y="3639255"/>
            <a:ext cx="782384" cy="20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181">
                <a:solidFill>
                  <a:srgbClr val="1E3063"/>
                </a:solidFill>
                <a:latin typeface="Noto Sans"/>
                <a:ea typeface="Noto Sans"/>
                <a:cs typeface="Noto Sans"/>
                <a:sym typeface="Noto Sans"/>
              </a:rPr>
              <a:t>inventory[]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099572" y="4048106"/>
            <a:ext cx="238068" cy="261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🟡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598398" y="2486006"/>
            <a:ext cx="238068" cy="261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🔵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381"/>
            <a:ext cx="11430000" cy="6439662"/>
          </a:xfrm>
          <a:custGeom>
            <a:avLst/>
            <a:gdLst/>
            <a:ahLst/>
            <a:cxnLst/>
            <a:rect r="r" b="b" t="t" l="l"/>
            <a:pathLst>
              <a:path h="6439662" w="11430000">
                <a:moveTo>
                  <a:pt x="0" y="0"/>
                </a:moveTo>
                <a:lnTo>
                  <a:pt x="11430000" y="0"/>
                </a:lnTo>
                <a:lnTo>
                  <a:pt x="11430000" y="6439662"/>
                </a:lnTo>
                <a:lnTo>
                  <a:pt x="0" y="6439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72" y="4191"/>
            <a:ext cx="11420856" cy="6430518"/>
          </a:xfrm>
          <a:custGeom>
            <a:avLst/>
            <a:gdLst/>
            <a:ahLst/>
            <a:cxnLst/>
            <a:rect r="r" b="b" t="t" l="l"/>
            <a:pathLst>
              <a:path h="6430518" w="11420856">
                <a:moveTo>
                  <a:pt x="0" y="0"/>
                </a:moveTo>
                <a:lnTo>
                  <a:pt x="11420856" y="0"/>
                </a:lnTo>
                <a:lnTo>
                  <a:pt x="11420856" y="6430518"/>
                </a:lnTo>
                <a:lnTo>
                  <a:pt x="0" y="64305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-381"/>
            <a:ext cx="11430000" cy="6439662"/>
          </a:xfrm>
          <a:custGeom>
            <a:avLst/>
            <a:gdLst/>
            <a:ahLst/>
            <a:cxnLst/>
            <a:rect r="r" b="b" t="t" l="l"/>
            <a:pathLst>
              <a:path h="6439662" w="11430000">
                <a:moveTo>
                  <a:pt x="0" y="0"/>
                </a:moveTo>
                <a:lnTo>
                  <a:pt x="11430000" y="0"/>
                </a:lnTo>
                <a:lnTo>
                  <a:pt x="11430000" y="6439662"/>
                </a:lnTo>
                <a:lnTo>
                  <a:pt x="0" y="6439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143750" y="-381"/>
            <a:ext cx="4286250" cy="6439662"/>
            <a:chOff x="0" y="0"/>
            <a:chExt cx="5715000" cy="85862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508"/>
              <a:ext cx="5715000" cy="8585200"/>
            </a:xfrm>
            <a:custGeom>
              <a:avLst/>
              <a:gdLst/>
              <a:ahLst/>
              <a:cxnLst/>
              <a:rect r="r" b="b" t="t" l="l"/>
              <a:pathLst>
                <a:path h="85852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8585200"/>
                  </a:lnTo>
                  <a:lnTo>
                    <a:pt x="0" y="858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5" r="0" b="-5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599884" y="2114550"/>
            <a:ext cx="5934456" cy="1371600"/>
          </a:xfrm>
          <a:custGeom>
            <a:avLst/>
            <a:gdLst/>
            <a:ahLst/>
            <a:cxnLst/>
            <a:rect r="r" b="b" t="t" l="l"/>
            <a:pathLst>
              <a:path h="1371600" w="5934456">
                <a:moveTo>
                  <a:pt x="0" y="0"/>
                </a:moveTo>
                <a:lnTo>
                  <a:pt x="5934456" y="0"/>
                </a:lnTo>
                <a:lnTo>
                  <a:pt x="593445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600075" y="2104263"/>
            <a:ext cx="5943600" cy="77724"/>
            <a:chOff x="0" y="0"/>
            <a:chExt cx="7924800" cy="1036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924800" cy="103632"/>
            </a:xfrm>
            <a:custGeom>
              <a:avLst/>
              <a:gdLst/>
              <a:ahLst/>
              <a:cxnLst/>
              <a:rect r="r" b="b" t="t" l="l"/>
              <a:pathLst>
                <a:path h="103632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103632"/>
                  </a:lnTo>
                  <a:lnTo>
                    <a:pt x="0" y="103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00075" y="3418713"/>
            <a:ext cx="5943600" cy="77724"/>
            <a:chOff x="0" y="0"/>
            <a:chExt cx="7924800" cy="1036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924800" cy="103632"/>
            </a:xfrm>
            <a:custGeom>
              <a:avLst/>
              <a:gdLst/>
              <a:ahLst/>
              <a:cxnLst/>
              <a:rect r="r" b="b" t="t" l="l"/>
              <a:pathLst>
                <a:path h="103632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103632"/>
                  </a:lnTo>
                  <a:lnTo>
                    <a:pt x="0" y="103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847397" y="2104263"/>
            <a:ext cx="697230" cy="1392174"/>
            <a:chOff x="0" y="0"/>
            <a:chExt cx="929640" cy="185623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29640" cy="1856232"/>
            </a:xfrm>
            <a:custGeom>
              <a:avLst/>
              <a:gdLst/>
              <a:ahLst/>
              <a:cxnLst/>
              <a:rect r="r" b="b" t="t" l="l"/>
              <a:pathLst>
                <a:path h="1856232" w="929640">
                  <a:moveTo>
                    <a:pt x="0" y="0"/>
                  </a:moveTo>
                  <a:lnTo>
                    <a:pt x="929640" y="0"/>
                  </a:lnTo>
                  <a:lnTo>
                    <a:pt x="929640" y="1856232"/>
                  </a:lnTo>
                  <a:lnTo>
                    <a:pt x="0" y="1856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90392" t="0" r="99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580263" y="2104263"/>
            <a:ext cx="77724" cy="1392174"/>
          </a:xfrm>
          <a:custGeom>
            <a:avLst/>
            <a:gdLst/>
            <a:ahLst/>
            <a:cxnLst/>
            <a:rect r="r" b="b" t="t" l="l"/>
            <a:pathLst>
              <a:path h="1392174" w="77724">
                <a:moveTo>
                  <a:pt x="0" y="0"/>
                </a:moveTo>
                <a:lnTo>
                  <a:pt x="77724" y="0"/>
                </a:lnTo>
                <a:lnTo>
                  <a:pt x="77724" y="1392174"/>
                </a:lnTo>
                <a:lnTo>
                  <a:pt x="0" y="139217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99884" y="3647884"/>
            <a:ext cx="5934456" cy="1362456"/>
          </a:xfrm>
          <a:custGeom>
            <a:avLst/>
            <a:gdLst/>
            <a:ahLst/>
            <a:cxnLst/>
            <a:rect r="r" b="b" t="t" l="l"/>
            <a:pathLst>
              <a:path h="1362456" w="5934456">
                <a:moveTo>
                  <a:pt x="0" y="0"/>
                </a:moveTo>
                <a:lnTo>
                  <a:pt x="5934456" y="0"/>
                </a:lnTo>
                <a:lnTo>
                  <a:pt x="5934456" y="1362456"/>
                </a:lnTo>
                <a:lnTo>
                  <a:pt x="0" y="136245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600075" y="3637788"/>
            <a:ext cx="5943600" cy="77724"/>
            <a:chOff x="0" y="0"/>
            <a:chExt cx="7924800" cy="1036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924800" cy="103632"/>
            </a:xfrm>
            <a:custGeom>
              <a:avLst/>
              <a:gdLst/>
              <a:ahLst/>
              <a:cxnLst/>
              <a:rect r="r" b="b" t="t" l="l"/>
              <a:pathLst>
                <a:path h="103632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103632"/>
                  </a:lnTo>
                  <a:lnTo>
                    <a:pt x="0" y="103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00075" y="4942713"/>
            <a:ext cx="5943600" cy="77724"/>
            <a:chOff x="0" y="0"/>
            <a:chExt cx="7924800" cy="10363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924800" cy="103632"/>
            </a:xfrm>
            <a:custGeom>
              <a:avLst/>
              <a:gdLst/>
              <a:ahLst/>
              <a:cxnLst/>
              <a:rect r="r" b="b" t="t" l="l"/>
              <a:pathLst>
                <a:path h="103632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103632"/>
                  </a:lnTo>
                  <a:lnTo>
                    <a:pt x="0" y="103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852065" y="3637597"/>
            <a:ext cx="692658" cy="1383030"/>
            <a:chOff x="0" y="0"/>
            <a:chExt cx="923544" cy="18440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23544" cy="1844040"/>
            </a:xfrm>
            <a:custGeom>
              <a:avLst/>
              <a:gdLst/>
              <a:ahLst/>
              <a:cxnLst/>
              <a:rect r="r" b="b" t="t" l="l"/>
              <a:pathLst>
                <a:path h="1844040" w="923544">
                  <a:moveTo>
                    <a:pt x="0" y="0"/>
                  </a:moveTo>
                  <a:lnTo>
                    <a:pt x="923544" y="0"/>
                  </a:lnTo>
                  <a:lnTo>
                    <a:pt x="923544" y="1844040"/>
                  </a:lnTo>
                  <a:lnTo>
                    <a:pt x="0" y="1844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90314" t="0" r="114" b="0"/>
              </a:stretch>
            </a:blip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580263" y="3637597"/>
            <a:ext cx="77724" cy="1383030"/>
          </a:xfrm>
          <a:custGeom>
            <a:avLst/>
            <a:gdLst/>
            <a:ahLst/>
            <a:cxnLst/>
            <a:rect r="r" b="b" t="t" l="l"/>
            <a:pathLst>
              <a:path h="1383030" w="77724">
                <a:moveTo>
                  <a:pt x="0" y="0"/>
                </a:moveTo>
                <a:lnTo>
                  <a:pt x="77724" y="0"/>
                </a:lnTo>
                <a:lnTo>
                  <a:pt x="77724" y="1383030"/>
                </a:lnTo>
                <a:lnTo>
                  <a:pt x="0" y="138303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600075" y="1403366"/>
            <a:ext cx="3857654" cy="499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3"/>
              </a:lnSpc>
            </a:pPr>
            <a:r>
              <a:rPr lang="en-US" sz="2952">
                <a:solidFill>
                  <a:srgbClr val="091C5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Exploração e Mimicry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26294" y="3768776"/>
            <a:ext cx="5586041" cy="105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2"/>
              </a:lnSpc>
            </a:pPr>
            <a:r>
              <a:rPr lang="en-US" sz="1476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Mecânica de Mimicry</a:t>
            </a:r>
          </a:p>
          <a:p>
            <a:pPr algn="l">
              <a:lnSpc>
                <a:spcPts val="1874"/>
              </a:lnSpc>
            </a:pP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Existe uma mecânica de inversão aleatória. Ao entrar em uma célula perigosa: 50% continua igual e 50% troca: criatura </a:t>
            </a:r>
            <a:r>
              <a:rPr lang="en-US" sz="1181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↔</a:t>
            </a: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baú. Isso adiciona imprevisibilidade à exploração.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26294" y="2235251"/>
            <a:ext cx="5337391" cy="1073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9"/>
              </a:lnSpc>
            </a:pPr>
            <a:r>
              <a:rPr lang="en-US" sz="1476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Movimentação e Eventos</a:t>
            </a:r>
          </a:p>
          <a:p>
            <a:pPr algn="l">
              <a:lnSpc>
                <a:spcPts val="1912"/>
              </a:lnSpc>
            </a:pP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O jogador se movimenta com as setas (↑ ↓ ← →). Caso a casa seja segura, o jogador avança e a área é revelada. Caso haja evento, o jogo solicita confirmação: Prosseguir? [Y] [N].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381"/>
            <a:ext cx="11430000" cy="6439662"/>
          </a:xfrm>
          <a:custGeom>
            <a:avLst/>
            <a:gdLst/>
            <a:ahLst/>
            <a:cxnLst/>
            <a:rect r="r" b="b" t="t" l="l"/>
            <a:pathLst>
              <a:path h="6439662" w="11430000">
                <a:moveTo>
                  <a:pt x="0" y="0"/>
                </a:moveTo>
                <a:lnTo>
                  <a:pt x="11430000" y="0"/>
                </a:lnTo>
                <a:lnTo>
                  <a:pt x="11430000" y="6439662"/>
                </a:lnTo>
                <a:lnTo>
                  <a:pt x="0" y="6439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72" y="4191"/>
            <a:ext cx="11420856" cy="6430518"/>
          </a:xfrm>
          <a:custGeom>
            <a:avLst/>
            <a:gdLst/>
            <a:ahLst/>
            <a:cxnLst/>
            <a:rect r="r" b="b" t="t" l="l"/>
            <a:pathLst>
              <a:path h="6430518" w="11420856">
                <a:moveTo>
                  <a:pt x="0" y="0"/>
                </a:moveTo>
                <a:lnTo>
                  <a:pt x="11420856" y="0"/>
                </a:lnTo>
                <a:lnTo>
                  <a:pt x="11420856" y="6430518"/>
                </a:lnTo>
                <a:lnTo>
                  <a:pt x="0" y="64305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-381"/>
            <a:ext cx="11430000" cy="6439662"/>
          </a:xfrm>
          <a:custGeom>
            <a:avLst/>
            <a:gdLst/>
            <a:ahLst/>
            <a:cxnLst/>
            <a:rect r="r" b="b" t="t" l="l"/>
            <a:pathLst>
              <a:path h="6439662" w="11430000">
                <a:moveTo>
                  <a:pt x="0" y="0"/>
                </a:moveTo>
                <a:lnTo>
                  <a:pt x="11430000" y="0"/>
                </a:lnTo>
                <a:lnTo>
                  <a:pt x="11430000" y="6439662"/>
                </a:lnTo>
                <a:lnTo>
                  <a:pt x="0" y="6439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18934" y="3695510"/>
            <a:ext cx="48006" cy="48006"/>
          </a:xfrm>
          <a:custGeom>
            <a:avLst/>
            <a:gdLst/>
            <a:ahLst/>
            <a:cxnLst/>
            <a:rect r="r" b="b" t="t" l="l"/>
            <a:pathLst>
              <a:path h="48006" w="48006">
                <a:moveTo>
                  <a:pt x="0" y="0"/>
                </a:moveTo>
                <a:lnTo>
                  <a:pt x="48006" y="0"/>
                </a:lnTo>
                <a:lnTo>
                  <a:pt x="48006" y="48006"/>
                </a:lnTo>
                <a:lnTo>
                  <a:pt x="0" y="480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52409" y="3809619"/>
            <a:ext cx="1762506" cy="324612"/>
          </a:xfrm>
          <a:custGeom>
            <a:avLst/>
            <a:gdLst/>
            <a:ahLst/>
            <a:cxnLst/>
            <a:rect r="r" b="b" t="t" l="l"/>
            <a:pathLst>
              <a:path h="324612" w="1762506">
                <a:moveTo>
                  <a:pt x="0" y="0"/>
                </a:moveTo>
                <a:lnTo>
                  <a:pt x="1762507" y="0"/>
                </a:lnTo>
                <a:lnTo>
                  <a:pt x="1762507" y="324612"/>
                </a:lnTo>
                <a:lnTo>
                  <a:pt x="0" y="3246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8934" y="4247960"/>
            <a:ext cx="48006" cy="48006"/>
          </a:xfrm>
          <a:custGeom>
            <a:avLst/>
            <a:gdLst/>
            <a:ahLst/>
            <a:cxnLst/>
            <a:rect r="r" b="b" t="t" l="l"/>
            <a:pathLst>
              <a:path h="48006" w="48006">
                <a:moveTo>
                  <a:pt x="0" y="0"/>
                </a:moveTo>
                <a:lnTo>
                  <a:pt x="48006" y="0"/>
                </a:lnTo>
                <a:lnTo>
                  <a:pt x="48006" y="48006"/>
                </a:lnTo>
                <a:lnTo>
                  <a:pt x="0" y="480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800725" y="2446972"/>
            <a:ext cx="5143500" cy="2240280"/>
          </a:xfrm>
          <a:custGeom>
            <a:avLst/>
            <a:gdLst/>
            <a:ahLst/>
            <a:cxnLst/>
            <a:rect r="r" b="b" t="t" l="l"/>
            <a:pathLst>
              <a:path h="2240280" w="5143500">
                <a:moveTo>
                  <a:pt x="0" y="0"/>
                </a:moveTo>
                <a:lnTo>
                  <a:pt x="5143500" y="0"/>
                </a:lnTo>
                <a:lnTo>
                  <a:pt x="5143500" y="2240280"/>
                </a:lnTo>
                <a:lnTo>
                  <a:pt x="0" y="224028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00075" y="1670066"/>
            <a:ext cx="4712494" cy="1780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4"/>
              </a:lnSpc>
            </a:pPr>
            <a:r>
              <a:rPr lang="en-US" sz="2952">
                <a:solidFill>
                  <a:srgbClr val="091C5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Sistema de Combate</a:t>
            </a:r>
          </a:p>
          <a:p>
            <a:pPr algn="l">
              <a:lnSpc>
                <a:spcPts val="2436"/>
              </a:lnSpc>
            </a:pPr>
            <a:r>
              <a:rPr lang="en-US" sz="1476">
                <a:solidFill>
                  <a:srgbClr val="091C5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Fluxo por Turnos</a:t>
            </a:r>
          </a:p>
          <a:p>
            <a:pPr algn="l">
              <a:lnSpc>
                <a:spcPts val="1950"/>
              </a:lnSpc>
            </a:pP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O combate é baseado em turnos: Jogador → Inimigo → Jogador → Inimigo. A cada turno, o jogador escolhe entre Atacar ou Defender.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49553" y="2435276"/>
            <a:ext cx="4505477" cy="1515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sz="1476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Sistema de Fuga</a:t>
            </a:r>
          </a:p>
          <a:p>
            <a:pPr algn="l">
              <a:lnSpc>
                <a:spcPts val="2938"/>
              </a:lnSpc>
            </a:pPr>
            <a:r>
              <a:rPr lang="en-US" sz="1181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Antes do combate começar, a chance de fuga é calculada como: chance = 1 − (casas exploradas / total)</a:t>
            </a:r>
          </a:p>
          <a:p>
            <a:pPr algn="l">
              <a:lnSpc>
                <a:spcPts val="2938"/>
              </a:lnSpc>
            </a:pPr>
            <a:r>
              <a:rPr lang="en-US" sz="1181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Quanto menos explorado o mapa, maior a chance de fugir.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39991" y="3589487"/>
            <a:ext cx="4669298" cy="101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Ataque: Dano básico = ATK do jogador. Caso o inimigo esteja </a:t>
            </a:r>
          </a:p>
          <a:p>
            <a:pPr algn="l">
              <a:lnSpc>
                <a:spcPts val="1874"/>
              </a:lnSpc>
            </a:pPr>
            <a:r>
              <a:rPr lang="en-US" sz="1181">
                <a:solidFill>
                  <a:srgbClr val="1E3063"/>
                </a:solidFill>
                <a:latin typeface="Noto Sans"/>
                <a:ea typeface="Noto Sans"/>
                <a:cs typeface="Noto Sans"/>
                <a:sym typeface="Noto Sans"/>
              </a:rPr>
              <a:t>defendendo: dano = ATK - DEF inimigo</a:t>
            </a:r>
          </a:p>
          <a:p>
            <a:pPr algn="l">
              <a:lnSpc>
                <a:spcPts val="2953"/>
              </a:lnSpc>
            </a:pP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Defesa: O jogador recebe redução de dano usando DEF. Após três </a:t>
            </a:r>
          </a:p>
          <a:p>
            <a:pPr algn="l">
              <a:lnSpc>
                <a:spcPts val="797"/>
              </a:lnSpc>
            </a:pP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defesas consecutivas: fuga automática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381"/>
            <a:ext cx="11430000" cy="6439662"/>
          </a:xfrm>
          <a:custGeom>
            <a:avLst/>
            <a:gdLst/>
            <a:ahLst/>
            <a:cxnLst/>
            <a:rect r="r" b="b" t="t" l="l"/>
            <a:pathLst>
              <a:path h="6439662" w="11430000">
                <a:moveTo>
                  <a:pt x="0" y="0"/>
                </a:moveTo>
                <a:lnTo>
                  <a:pt x="11430000" y="0"/>
                </a:lnTo>
                <a:lnTo>
                  <a:pt x="11430000" y="6439662"/>
                </a:lnTo>
                <a:lnTo>
                  <a:pt x="0" y="6439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72" y="4191"/>
            <a:ext cx="11420856" cy="6430518"/>
          </a:xfrm>
          <a:custGeom>
            <a:avLst/>
            <a:gdLst/>
            <a:ahLst/>
            <a:cxnLst/>
            <a:rect r="r" b="b" t="t" l="l"/>
            <a:pathLst>
              <a:path h="6430518" w="11420856">
                <a:moveTo>
                  <a:pt x="0" y="0"/>
                </a:moveTo>
                <a:lnTo>
                  <a:pt x="11420856" y="0"/>
                </a:lnTo>
                <a:lnTo>
                  <a:pt x="11420856" y="6430518"/>
                </a:lnTo>
                <a:lnTo>
                  <a:pt x="0" y="64305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-381"/>
            <a:ext cx="11430000" cy="6439662"/>
          </a:xfrm>
          <a:custGeom>
            <a:avLst/>
            <a:gdLst/>
            <a:ahLst/>
            <a:cxnLst/>
            <a:rect r="r" b="b" t="t" l="l"/>
            <a:pathLst>
              <a:path h="6439662" w="11430000">
                <a:moveTo>
                  <a:pt x="0" y="0"/>
                </a:moveTo>
                <a:lnTo>
                  <a:pt x="11430000" y="0"/>
                </a:lnTo>
                <a:lnTo>
                  <a:pt x="11430000" y="6439662"/>
                </a:lnTo>
                <a:lnTo>
                  <a:pt x="0" y="6439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905310" y="3304413"/>
            <a:ext cx="2391156" cy="934974"/>
          </a:xfrm>
          <a:custGeom>
            <a:avLst/>
            <a:gdLst/>
            <a:ahLst/>
            <a:cxnLst/>
            <a:rect r="r" b="b" t="t" l="l"/>
            <a:pathLst>
              <a:path h="934974" w="2391156">
                <a:moveTo>
                  <a:pt x="0" y="0"/>
                </a:moveTo>
                <a:lnTo>
                  <a:pt x="2391156" y="0"/>
                </a:lnTo>
                <a:lnTo>
                  <a:pt x="2391156" y="934974"/>
                </a:lnTo>
                <a:lnTo>
                  <a:pt x="0" y="9349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448484" y="3304413"/>
            <a:ext cx="2391156" cy="934974"/>
          </a:xfrm>
          <a:custGeom>
            <a:avLst/>
            <a:gdLst/>
            <a:ahLst/>
            <a:cxnLst/>
            <a:rect r="r" b="b" t="t" l="l"/>
            <a:pathLst>
              <a:path h="934974" w="2391156">
                <a:moveTo>
                  <a:pt x="0" y="0"/>
                </a:moveTo>
                <a:lnTo>
                  <a:pt x="2391156" y="0"/>
                </a:lnTo>
                <a:lnTo>
                  <a:pt x="2391156" y="934974"/>
                </a:lnTo>
                <a:lnTo>
                  <a:pt x="0" y="9349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904738" y="4390263"/>
            <a:ext cx="4935474" cy="934974"/>
          </a:xfrm>
          <a:custGeom>
            <a:avLst/>
            <a:gdLst/>
            <a:ahLst/>
            <a:cxnLst/>
            <a:rect r="r" b="b" t="t" l="l"/>
            <a:pathLst>
              <a:path h="934974" w="4935474">
                <a:moveTo>
                  <a:pt x="0" y="0"/>
                </a:moveTo>
                <a:lnTo>
                  <a:pt x="4935474" y="0"/>
                </a:lnTo>
                <a:lnTo>
                  <a:pt x="4935474" y="934974"/>
                </a:lnTo>
                <a:lnTo>
                  <a:pt x="0" y="93497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00075" y="869966"/>
            <a:ext cx="5279012" cy="2241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12"/>
              </a:lnSpc>
            </a:pPr>
            <a:r>
              <a:rPr lang="en-US" sz="2952">
                <a:solidFill>
                  <a:srgbClr val="091C5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Inimigos, Baús e Consumíveis</a:t>
            </a:r>
          </a:p>
          <a:p>
            <a:pPr algn="l">
              <a:lnSpc>
                <a:spcPts val="2405"/>
              </a:lnSpc>
            </a:pPr>
            <a:r>
              <a:rPr lang="en-US" sz="1476">
                <a:solidFill>
                  <a:srgbClr val="091C5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Monstros Disponíveis</a:t>
            </a:r>
          </a:p>
          <a:p>
            <a:pPr algn="l">
              <a:lnSpc>
                <a:spcPts val="1925"/>
              </a:lnSpc>
            </a:pP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Os monstros são escolhidos aleatoriamente entre: Goblin, Bugbear, Owlbear, Displacer Beast, Kobold, Hobgoblin, Gnoll, Troll, Ogre, </a:t>
            </a:r>
          </a:p>
          <a:p>
            <a:pPr algn="l">
              <a:lnSpc>
                <a:spcPts val="1925"/>
              </a:lnSpc>
            </a:pP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Minotaur, Basilisk e Manticore. Os atributos são gerados próximos aos atributos atuais do jogador.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57452" y="3444926"/>
            <a:ext cx="1021547" cy="620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6"/>
              </a:lnSpc>
            </a:pPr>
            <a:r>
              <a:rPr lang="en-US" sz="1476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Pinga</a:t>
            </a:r>
          </a:p>
          <a:p>
            <a:pPr algn="ctr">
              <a:lnSpc>
                <a:spcPts val="1653"/>
              </a:lnSpc>
            </a:pP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HP +10, DEF -2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07434" y="1749476"/>
            <a:ext cx="4935103" cy="1363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8"/>
              </a:lnSpc>
            </a:pPr>
            <a:r>
              <a:rPr lang="en-US" sz="1476">
                <a:solidFill>
                  <a:srgbClr val="091C5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Baús e Consumíveis</a:t>
            </a:r>
          </a:p>
          <a:p>
            <a:pPr algn="l">
              <a:lnSpc>
                <a:spcPts val="1919"/>
              </a:lnSpc>
            </a:pP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Ao abrir um baú, é gerado um item aleatório, adicionado ao inventário, com efeitos permanentes ou consumíveis. Equipamentos são aplicados imediatamente ao jogador, podendo alterar ATK, DEF e HP máximo. Alguns possuem maldição.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90815" y="4521251"/>
            <a:ext cx="1526534" cy="254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Amuleto da Vida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31761" y="3444926"/>
            <a:ext cx="1013974" cy="254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Bandagem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598398" y="3856187"/>
            <a:ext cx="463344" cy="20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HP +15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57452" y="4942037"/>
            <a:ext cx="4654058" cy="20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Item raro passivo. Após vencer combate: +20 HP até o HP máximo.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057452" y="3400406"/>
            <a:ext cx="238068" cy="261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🍶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57452" y="4476731"/>
            <a:ext cx="238068" cy="261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📿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98398" y="3397472"/>
            <a:ext cx="238068" cy="262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🩹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381"/>
            <a:ext cx="11430000" cy="6439662"/>
          </a:xfrm>
          <a:custGeom>
            <a:avLst/>
            <a:gdLst/>
            <a:ahLst/>
            <a:cxnLst/>
            <a:rect r="r" b="b" t="t" l="l"/>
            <a:pathLst>
              <a:path h="6439662" w="11430000">
                <a:moveTo>
                  <a:pt x="0" y="0"/>
                </a:moveTo>
                <a:lnTo>
                  <a:pt x="11430000" y="0"/>
                </a:lnTo>
                <a:lnTo>
                  <a:pt x="11430000" y="6439662"/>
                </a:lnTo>
                <a:lnTo>
                  <a:pt x="0" y="6439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72" y="4191"/>
            <a:ext cx="11420856" cy="6430518"/>
          </a:xfrm>
          <a:custGeom>
            <a:avLst/>
            <a:gdLst/>
            <a:ahLst/>
            <a:cxnLst/>
            <a:rect r="r" b="b" t="t" l="l"/>
            <a:pathLst>
              <a:path h="6430518" w="11420856">
                <a:moveTo>
                  <a:pt x="0" y="0"/>
                </a:moveTo>
                <a:lnTo>
                  <a:pt x="11420856" y="0"/>
                </a:lnTo>
                <a:lnTo>
                  <a:pt x="11420856" y="6430518"/>
                </a:lnTo>
                <a:lnTo>
                  <a:pt x="0" y="64305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-381"/>
            <a:ext cx="11430000" cy="6439662"/>
          </a:xfrm>
          <a:custGeom>
            <a:avLst/>
            <a:gdLst/>
            <a:ahLst/>
            <a:cxnLst/>
            <a:rect r="r" b="b" t="t" l="l"/>
            <a:pathLst>
              <a:path h="6439662" w="11430000">
                <a:moveTo>
                  <a:pt x="0" y="0"/>
                </a:moveTo>
                <a:lnTo>
                  <a:pt x="11430000" y="0"/>
                </a:lnTo>
                <a:lnTo>
                  <a:pt x="11430000" y="6439662"/>
                </a:lnTo>
                <a:lnTo>
                  <a:pt x="0" y="6439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352038" y="1961769"/>
            <a:ext cx="363474" cy="324612"/>
          </a:xfrm>
          <a:custGeom>
            <a:avLst/>
            <a:gdLst/>
            <a:ahLst/>
            <a:cxnLst/>
            <a:rect r="r" b="b" t="t" l="l"/>
            <a:pathLst>
              <a:path h="324612" w="363474">
                <a:moveTo>
                  <a:pt x="0" y="0"/>
                </a:moveTo>
                <a:lnTo>
                  <a:pt x="363474" y="0"/>
                </a:lnTo>
                <a:lnTo>
                  <a:pt x="363474" y="324612"/>
                </a:lnTo>
                <a:lnTo>
                  <a:pt x="0" y="3246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95300" y="2419350"/>
            <a:ext cx="5143500" cy="2800350"/>
          </a:xfrm>
          <a:custGeom>
            <a:avLst/>
            <a:gdLst/>
            <a:ahLst/>
            <a:cxnLst/>
            <a:rect r="r" b="b" t="t" l="l"/>
            <a:pathLst>
              <a:path h="2800350" w="5143500">
                <a:moveTo>
                  <a:pt x="0" y="0"/>
                </a:moveTo>
                <a:lnTo>
                  <a:pt x="5143500" y="0"/>
                </a:lnTo>
                <a:lnTo>
                  <a:pt x="5143500" y="2800350"/>
                </a:lnTo>
                <a:lnTo>
                  <a:pt x="0" y="28003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57034" y="3047810"/>
            <a:ext cx="48006" cy="48006"/>
          </a:xfrm>
          <a:custGeom>
            <a:avLst/>
            <a:gdLst/>
            <a:ahLst/>
            <a:cxnLst/>
            <a:rect r="r" b="b" t="t" l="l"/>
            <a:pathLst>
              <a:path h="48006" w="48006">
                <a:moveTo>
                  <a:pt x="0" y="0"/>
                </a:moveTo>
                <a:lnTo>
                  <a:pt x="48006" y="0"/>
                </a:lnTo>
                <a:lnTo>
                  <a:pt x="48006" y="48006"/>
                </a:lnTo>
                <a:lnTo>
                  <a:pt x="0" y="480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75728" y="2923794"/>
            <a:ext cx="544068" cy="324612"/>
          </a:xfrm>
          <a:custGeom>
            <a:avLst/>
            <a:gdLst/>
            <a:ahLst/>
            <a:cxnLst/>
            <a:rect r="r" b="b" t="t" l="l"/>
            <a:pathLst>
              <a:path h="324612" w="544068">
                <a:moveTo>
                  <a:pt x="0" y="0"/>
                </a:moveTo>
                <a:lnTo>
                  <a:pt x="544068" y="0"/>
                </a:lnTo>
                <a:lnTo>
                  <a:pt x="544068" y="324612"/>
                </a:lnTo>
                <a:lnTo>
                  <a:pt x="0" y="32461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57034" y="3362134"/>
            <a:ext cx="48006" cy="48006"/>
          </a:xfrm>
          <a:custGeom>
            <a:avLst/>
            <a:gdLst/>
            <a:ahLst/>
            <a:cxnLst/>
            <a:rect r="r" b="b" t="t" l="l"/>
            <a:pathLst>
              <a:path h="48006" w="48006">
                <a:moveTo>
                  <a:pt x="0" y="0"/>
                </a:moveTo>
                <a:lnTo>
                  <a:pt x="48006" y="0"/>
                </a:lnTo>
                <a:lnTo>
                  <a:pt x="48006" y="48006"/>
                </a:lnTo>
                <a:lnTo>
                  <a:pt x="0" y="4800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76110" y="3238119"/>
            <a:ext cx="1019556" cy="324612"/>
          </a:xfrm>
          <a:custGeom>
            <a:avLst/>
            <a:gdLst/>
            <a:ahLst/>
            <a:cxnLst/>
            <a:rect r="r" b="b" t="t" l="l"/>
            <a:pathLst>
              <a:path h="324612" w="1019556">
                <a:moveTo>
                  <a:pt x="0" y="0"/>
                </a:moveTo>
                <a:lnTo>
                  <a:pt x="1019555" y="0"/>
                </a:lnTo>
                <a:lnTo>
                  <a:pt x="1019555" y="324612"/>
                </a:lnTo>
                <a:lnTo>
                  <a:pt x="0" y="32461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57034" y="3666934"/>
            <a:ext cx="48006" cy="48006"/>
          </a:xfrm>
          <a:custGeom>
            <a:avLst/>
            <a:gdLst/>
            <a:ahLst/>
            <a:cxnLst/>
            <a:rect r="r" b="b" t="t" l="l"/>
            <a:pathLst>
              <a:path h="48006" w="48006">
                <a:moveTo>
                  <a:pt x="0" y="0"/>
                </a:moveTo>
                <a:lnTo>
                  <a:pt x="48006" y="0"/>
                </a:lnTo>
                <a:lnTo>
                  <a:pt x="48006" y="48006"/>
                </a:lnTo>
                <a:lnTo>
                  <a:pt x="0" y="4800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75919" y="3542919"/>
            <a:ext cx="838962" cy="324612"/>
          </a:xfrm>
          <a:custGeom>
            <a:avLst/>
            <a:gdLst/>
            <a:ahLst/>
            <a:cxnLst/>
            <a:rect r="r" b="b" t="t" l="l"/>
            <a:pathLst>
              <a:path h="324612" w="838962">
                <a:moveTo>
                  <a:pt x="0" y="0"/>
                </a:moveTo>
                <a:lnTo>
                  <a:pt x="838962" y="0"/>
                </a:lnTo>
                <a:lnTo>
                  <a:pt x="838962" y="324612"/>
                </a:lnTo>
                <a:lnTo>
                  <a:pt x="0" y="32461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828800" y="3542919"/>
            <a:ext cx="914400" cy="324612"/>
          </a:xfrm>
          <a:custGeom>
            <a:avLst/>
            <a:gdLst/>
            <a:ahLst/>
            <a:cxnLst/>
            <a:rect r="r" b="b" t="t" l="l"/>
            <a:pathLst>
              <a:path h="324612" w="914400">
                <a:moveTo>
                  <a:pt x="0" y="0"/>
                </a:moveTo>
                <a:lnTo>
                  <a:pt x="914400" y="0"/>
                </a:lnTo>
                <a:lnTo>
                  <a:pt x="914400" y="324612"/>
                </a:lnTo>
                <a:lnTo>
                  <a:pt x="0" y="324612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57034" y="3981260"/>
            <a:ext cx="48006" cy="48006"/>
          </a:xfrm>
          <a:custGeom>
            <a:avLst/>
            <a:gdLst/>
            <a:ahLst/>
            <a:cxnLst/>
            <a:rect r="r" b="b" t="t" l="l"/>
            <a:pathLst>
              <a:path h="48006" w="48006">
                <a:moveTo>
                  <a:pt x="0" y="0"/>
                </a:moveTo>
                <a:lnTo>
                  <a:pt x="48006" y="0"/>
                </a:lnTo>
                <a:lnTo>
                  <a:pt x="48006" y="48006"/>
                </a:lnTo>
                <a:lnTo>
                  <a:pt x="0" y="480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75538" y="3857244"/>
            <a:ext cx="649224" cy="324612"/>
          </a:xfrm>
          <a:custGeom>
            <a:avLst/>
            <a:gdLst/>
            <a:ahLst/>
            <a:cxnLst/>
            <a:rect r="r" b="b" t="t" l="l"/>
            <a:pathLst>
              <a:path h="324612" w="649224">
                <a:moveTo>
                  <a:pt x="0" y="0"/>
                </a:moveTo>
                <a:lnTo>
                  <a:pt x="649224" y="0"/>
                </a:lnTo>
                <a:lnTo>
                  <a:pt x="649224" y="324612"/>
                </a:lnTo>
                <a:lnTo>
                  <a:pt x="0" y="32461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57034" y="4295584"/>
            <a:ext cx="48006" cy="48006"/>
          </a:xfrm>
          <a:custGeom>
            <a:avLst/>
            <a:gdLst/>
            <a:ahLst/>
            <a:cxnLst/>
            <a:rect r="r" b="b" t="t" l="l"/>
            <a:pathLst>
              <a:path h="48006" w="48006">
                <a:moveTo>
                  <a:pt x="0" y="0"/>
                </a:moveTo>
                <a:lnTo>
                  <a:pt x="48006" y="0"/>
                </a:lnTo>
                <a:lnTo>
                  <a:pt x="48006" y="48006"/>
                </a:lnTo>
                <a:lnTo>
                  <a:pt x="0" y="48006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75728" y="4171569"/>
            <a:ext cx="486918" cy="324612"/>
          </a:xfrm>
          <a:custGeom>
            <a:avLst/>
            <a:gdLst/>
            <a:ahLst/>
            <a:cxnLst/>
            <a:rect r="r" b="b" t="t" l="l"/>
            <a:pathLst>
              <a:path h="324612" w="486918">
                <a:moveTo>
                  <a:pt x="0" y="0"/>
                </a:moveTo>
                <a:lnTo>
                  <a:pt x="486918" y="0"/>
                </a:lnTo>
                <a:lnTo>
                  <a:pt x="486918" y="324612"/>
                </a:lnTo>
                <a:lnTo>
                  <a:pt x="0" y="324612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66659" y="4171569"/>
            <a:ext cx="733806" cy="324612"/>
          </a:xfrm>
          <a:custGeom>
            <a:avLst/>
            <a:gdLst/>
            <a:ahLst/>
            <a:cxnLst/>
            <a:rect r="r" b="b" t="t" l="l"/>
            <a:pathLst>
              <a:path h="324612" w="733806">
                <a:moveTo>
                  <a:pt x="0" y="0"/>
                </a:moveTo>
                <a:lnTo>
                  <a:pt x="733807" y="0"/>
                </a:lnTo>
                <a:lnTo>
                  <a:pt x="733807" y="324612"/>
                </a:lnTo>
                <a:lnTo>
                  <a:pt x="0" y="324612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57034" y="4609910"/>
            <a:ext cx="48006" cy="48006"/>
          </a:xfrm>
          <a:custGeom>
            <a:avLst/>
            <a:gdLst/>
            <a:ahLst/>
            <a:cxnLst/>
            <a:rect r="r" b="b" t="t" l="l"/>
            <a:pathLst>
              <a:path h="48006" w="48006">
                <a:moveTo>
                  <a:pt x="0" y="0"/>
                </a:moveTo>
                <a:lnTo>
                  <a:pt x="48006" y="0"/>
                </a:lnTo>
                <a:lnTo>
                  <a:pt x="48006" y="48006"/>
                </a:lnTo>
                <a:lnTo>
                  <a:pt x="0" y="48006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76110" y="4485894"/>
            <a:ext cx="1133856" cy="324612"/>
          </a:xfrm>
          <a:custGeom>
            <a:avLst/>
            <a:gdLst/>
            <a:ahLst/>
            <a:cxnLst/>
            <a:rect r="r" b="b" t="t" l="l"/>
            <a:pathLst>
              <a:path h="324612" w="1133856">
                <a:moveTo>
                  <a:pt x="0" y="0"/>
                </a:moveTo>
                <a:lnTo>
                  <a:pt x="1133855" y="0"/>
                </a:lnTo>
                <a:lnTo>
                  <a:pt x="1133855" y="324612"/>
                </a:lnTo>
                <a:lnTo>
                  <a:pt x="0" y="324612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5905119" y="2980754"/>
            <a:ext cx="2382012" cy="944118"/>
          </a:xfrm>
          <a:custGeom>
            <a:avLst/>
            <a:gdLst/>
            <a:ahLst/>
            <a:cxnLst/>
            <a:rect r="r" b="b" t="t" l="l"/>
            <a:pathLst>
              <a:path h="944118" w="2382012">
                <a:moveTo>
                  <a:pt x="0" y="0"/>
                </a:moveTo>
                <a:lnTo>
                  <a:pt x="2382012" y="0"/>
                </a:lnTo>
                <a:lnTo>
                  <a:pt x="2382012" y="944117"/>
                </a:lnTo>
                <a:lnTo>
                  <a:pt x="0" y="944117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5905310" y="2971038"/>
            <a:ext cx="2391156" cy="77724"/>
            <a:chOff x="0" y="0"/>
            <a:chExt cx="3188208" cy="10363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188208" cy="103632"/>
            </a:xfrm>
            <a:custGeom>
              <a:avLst/>
              <a:gdLst/>
              <a:ahLst/>
              <a:cxnLst/>
              <a:rect r="r" b="b" t="t" l="l"/>
              <a:pathLst>
                <a:path h="103632" w="3188208">
                  <a:moveTo>
                    <a:pt x="0" y="0"/>
                  </a:moveTo>
                  <a:lnTo>
                    <a:pt x="3188208" y="0"/>
                  </a:lnTo>
                  <a:lnTo>
                    <a:pt x="3188208" y="103632"/>
                  </a:lnTo>
                  <a:lnTo>
                    <a:pt x="0" y="103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7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905310" y="3856863"/>
            <a:ext cx="2391156" cy="77724"/>
            <a:chOff x="0" y="0"/>
            <a:chExt cx="3188208" cy="10363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188208" cy="103632"/>
            </a:xfrm>
            <a:custGeom>
              <a:avLst/>
              <a:gdLst/>
              <a:ahLst/>
              <a:cxnLst/>
              <a:rect r="r" b="b" t="t" l="l"/>
              <a:pathLst>
                <a:path h="103632" w="3188208">
                  <a:moveTo>
                    <a:pt x="0" y="0"/>
                  </a:moveTo>
                  <a:lnTo>
                    <a:pt x="3188208" y="0"/>
                  </a:lnTo>
                  <a:lnTo>
                    <a:pt x="3188208" y="103632"/>
                  </a:lnTo>
                  <a:lnTo>
                    <a:pt x="0" y="103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814596" y="2971610"/>
            <a:ext cx="482346" cy="962406"/>
            <a:chOff x="0" y="0"/>
            <a:chExt cx="643128" cy="128320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43128" cy="1283208"/>
            </a:xfrm>
            <a:custGeom>
              <a:avLst/>
              <a:gdLst/>
              <a:ahLst/>
              <a:cxnLst/>
              <a:rect r="r" b="b" t="t" l="l"/>
              <a:pathLst>
                <a:path h="1283208" w="643128">
                  <a:moveTo>
                    <a:pt x="0" y="0"/>
                  </a:moveTo>
                  <a:lnTo>
                    <a:pt x="643128" y="0"/>
                  </a:lnTo>
                  <a:lnTo>
                    <a:pt x="643128" y="1283208"/>
                  </a:lnTo>
                  <a:lnTo>
                    <a:pt x="0" y="1283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9"/>
              <a:stretch>
                <a:fillRect l="86171" t="0" r="84" b="0"/>
              </a:stretch>
            </a:blip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5885688" y="2971610"/>
            <a:ext cx="77724" cy="962406"/>
          </a:xfrm>
          <a:custGeom>
            <a:avLst/>
            <a:gdLst/>
            <a:ahLst/>
            <a:cxnLst/>
            <a:rect r="r" b="b" t="t" l="l"/>
            <a:pathLst>
              <a:path h="962406" w="77724">
                <a:moveTo>
                  <a:pt x="0" y="0"/>
                </a:moveTo>
                <a:lnTo>
                  <a:pt x="77724" y="0"/>
                </a:lnTo>
                <a:lnTo>
                  <a:pt x="77724" y="962406"/>
                </a:lnTo>
                <a:lnTo>
                  <a:pt x="0" y="962406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8448294" y="2980754"/>
            <a:ext cx="2382012" cy="944118"/>
          </a:xfrm>
          <a:custGeom>
            <a:avLst/>
            <a:gdLst/>
            <a:ahLst/>
            <a:cxnLst/>
            <a:rect r="r" b="b" t="t" l="l"/>
            <a:pathLst>
              <a:path h="944118" w="2382012">
                <a:moveTo>
                  <a:pt x="0" y="0"/>
                </a:moveTo>
                <a:lnTo>
                  <a:pt x="2382012" y="0"/>
                </a:lnTo>
                <a:lnTo>
                  <a:pt x="2382012" y="944117"/>
                </a:lnTo>
                <a:lnTo>
                  <a:pt x="0" y="944117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8448484" y="2971038"/>
            <a:ext cx="2391156" cy="77724"/>
            <a:chOff x="0" y="0"/>
            <a:chExt cx="3188208" cy="10363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188208" cy="103632"/>
            </a:xfrm>
            <a:custGeom>
              <a:avLst/>
              <a:gdLst/>
              <a:ahLst/>
              <a:cxnLst/>
              <a:rect r="r" b="b" t="t" l="l"/>
              <a:pathLst>
                <a:path h="103632" w="3188208">
                  <a:moveTo>
                    <a:pt x="0" y="0"/>
                  </a:moveTo>
                  <a:lnTo>
                    <a:pt x="3188208" y="0"/>
                  </a:lnTo>
                  <a:lnTo>
                    <a:pt x="3188208" y="103632"/>
                  </a:lnTo>
                  <a:lnTo>
                    <a:pt x="0" y="103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7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448484" y="3856863"/>
            <a:ext cx="2391156" cy="77724"/>
            <a:chOff x="0" y="0"/>
            <a:chExt cx="3188208" cy="10363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188208" cy="103632"/>
            </a:xfrm>
            <a:custGeom>
              <a:avLst/>
              <a:gdLst/>
              <a:ahLst/>
              <a:cxnLst/>
              <a:rect r="r" b="b" t="t" l="l"/>
              <a:pathLst>
                <a:path h="103632" w="3188208">
                  <a:moveTo>
                    <a:pt x="0" y="0"/>
                  </a:moveTo>
                  <a:lnTo>
                    <a:pt x="3188208" y="0"/>
                  </a:lnTo>
                  <a:lnTo>
                    <a:pt x="3188208" y="103632"/>
                  </a:lnTo>
                  <a:lnTo>
                    <a:pt x="0" y="103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0357771" y="2971610"/>
            <a:ext cx="482346" cy="962406"/>
            <a:chOff x="0" y="0"/>
            <a:chExt cx="643128" cy="128320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43128" cy="1283208"/>
            </a:xfrm>
            <a:custGeom>
              <a:avLst/>
              <a:gdLst/>
              <a:ahLst/>
              <a:cxnLst/>
              <a:rect r="r" b="b" t="t" l="l"/>
              <a:pathLst>
                <a:path h="1283208" w="643128">
                  <a:moveTo>
                    <a:pt x="0" y="0"/>
                  </a:moveTo>
                  <a:lnTo>
                    <a:pt x="643128" y="0"/>
                  </a:lnTo>
                  <a:lnTo>
                    <a:pt x="643128" y="1283208"/>
                  </a:lnTo>
                  <a:lnTo>
                    <a:pt x="0" y="1283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9"/>
              <a:stretch>
                <a:fillRect l="86171" t="0" r="84" b="0"/>
              </a:stretch>
            </a:blipFill>
          </p:spPr>
        </p:sp>
      </p:grpSp>
      <p:sp>
        <p:nvSpPr>
          <p:cNvPr name="Freeform 36" id="36"/>
          <p:cNvSpPr/>
          <p:nvPr/>
        </p:nvSpPr>
        <p:spPr>
          <a:xfrm flipH="false" flipV="false" rot="0">
            <a:off x="8428863" y="2971610"/>
            <a:ext cx="77724" cy="962406"/>
          </a:xfrm>
          <a:custGeom>
            <a:avLst/>
            <a:gdLst/>
            <a:ahLst/>
            <a:cxnLst/>
            <a:rect r="r" b="b" t="t" l="l"/>
            <a:pathLst>
              <a:path h="962406" w="77724">
                <a:moveTo>
                  <a:pt x="0" y="0"/>
                </a:moveTo>
                <a:lnTo>
                  <a:pt x="77724" y="0"/>
                </a:lnTo>
                <a:lnTo>
                  <a:pt x="77724" y="962406"/>
                </a:lnTo>
                <a:lnTo>
                  <a:pt x="0" y="962406"/>
                </a:lnTo>
                <a:lnTo>
                  <a:pt x="0" y="0"/>
                </a:lnTo>
                <a:close/>
              </a:path>
            </a:pathLst>
          </a:custGeom>
          <a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5905119" y="4095178"/>
            <a:ext cx="2382012" cy="944118"/>
          </a:xfrm>
          <a:custGeom>
            <a:avLst/>
            <a:gdLst/>
            <a:ahLst/>
            <a:cxnLst/>
            <a:rect r="r" b="b" t="t" l="l"/>
            <a:pathLst>
              <a:path h="944118" w="2382012">
                <a:moveTo>
                  <a:pt x="0" y="0"/>
                </a:moveTo>
                <a:lnTo>
                  <a:pt x="2382012" y="0"/>
                </a:lnTo>
                <a:lnTo>
                  <a:pt x="2382012" y="944118"/>
                </a:lnTo>
                <a:lnTo>
                  <a:pt x="0" y="944118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5905310" y="4085463"/>
            <a:ext cx="2391156" cy="77724"/>
            <a:chOff x="0" y="0"/>
            <a:chExt cx="3188208" cy="10363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188208" cy="103632"/>
            </a:xfrm>
            <a:custGeom>
              <a:avLst/>
              <a:gdLst/>
              <a:ahLst/>
              <a:cxnLst/>
              <a:rect r="r" b="b" t="t" l="l"/>
              <a:pathLst>
                <a:path h="103632" w="3188208">
                  <a:moveTo>
                    <a:pt x="0" y="0"/>
                  </a:moveTo>
                  <a:lnTo>
                    <a:pt x="3188208" y="0"/>
                  </a:lnTo>
                  <a:lnTo>
                    <a:pt x="3188208" y="103632"/>
                  </a:lnTo>
                  <a:lnTo>
                    <a:pt x="0" y="103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7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905310" y="4971288"/>
            <a:ext cx="2391156" cy="77724"/>
            <a:chOff x="0" y="0"/>
            <a:chExt cx="3188208" cy="10363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188208" cy="103632"/>
            </a:xfrm>
            <a:custGeom>
              <a:avLst/>
              <a:gdLst/>
              <a:ahLst/>
              <a:cxnLst/>
              <a:rect r="r" b="b" t="t" l="l"/>
              <a:pathLst>
                <a:path h="103632" w="3188208">
                  <a:moveTo>
                    <a:pt x="0" y="0"/>
                  </a:moveTo>
                  <a:lnTo>
                    <a:pt x="3188208" y="0"/>
                  </a:lnTo>
                  <a:lnTo>
                    <a:pt x="3188208" y="103632"/>
                  </a:lnTo>
                  <a:lnTo>
                    <a:pt x="0" y="103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814596" y="4086034"/>
            <a:ext cx="482346" cy="962406"/>
            <a:chOff x="0" y="0"/>
            <a:chExt cx="643128" cy="128320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43128" cy="1283208"/>
            </a:xfrm>
            <a:custGeom>
              <a:avLst/>
              <a:gdLst/>
              <a:ahLst/>
              <a:cxnLst/>
              <a:rect r="r" b="b" t="t" l="l"/>
              <a:pathLst>
                <a:path h="1283208" w="643128">
                  <a:moveTo>
                    <a:pt x="0" y="0"/>
                  </a:moveTo>
                  <a:lnTo>
                    <a:pt x="643128" y="0"/>
                  </a:lnTo>
                  <a:lnTo>
                    <a:pt x="643128" y="1283208"/>
                  </a:lnTo>
                  <a:lnTo>
                    <a:pt x="0" y="1283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8"/>
              <a:stretch>
                <a:fillRect l="86171" t="0" r="84" b="0"/>
              </a:stretch>
            </a:blipFill>
          </p:spPr>
        </p:sp>
      </p:grpSp>
      <p:sp>
        <p:nvSpPr>
          <p:cNvPr name="Freeform 44" id="44"/>
          <p:cNvSpPr/>
          <p:nvPr/>
        </p:nvSpPr>
        <p:spPr>
          <a:xfrm flipH="false" flipV="false" rot="0">
            <a:off x="5885688" y="4086034"/>
            <a:ext cx="77724" cy="962406"/>
          </a:xfrm>
          <a:custGeom>
            <a:avLst/>
            <a:gdLst/>
            <a:ahLst/>
            <a:cxnLst/>
            <a:rect r="r" b="b" t="t" l="l"/>
            <a:pathLst>
              <a:path h="962406" w="77724">
                <a:moveTo>
                  <a:pt x="0" y="0"/>
                </a:moveTo>
                <a:lnTo>
                  <a:pt x="77724" y="0"/>
                </a:lnTo>
                <a:lnTo>
                  <a:pt x="77724" y="962406"/>
                </a:lnTo>
                <a:lnTo>
                  <a:pt x="0" y="962406"/>
                </a:lnTo>
                <a:lnTo>
                  <a:pt x="0" y="0"/>
                </a:lnTo>
                <a:close/>
              </a:path>
            </a:pathLst>
          </a:custGeom>
          <a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8448294" y="4095178"/>
            <a:ext cx="2382012" cy="944118"/>
          </a:xfrm>
          <a:custGeom>
            <a:avLst/>
            <a:gdLst/>
            <a:ahLst/>
            <a:cxnLst/>
            <a:rect r="r" b="b" t="t" l="l"/>
            <a:pathLst>
              <a:path h="944118" w="2382012">
                <a:moveTo>
                  <a:pt x="0" y="0"/>
                </a:moveTo>
                <a:lnTo>
                  <a:pt x="2382012" y="0"/>
                </a:lnTo>
                <a:lnTo>
                  <a:pt x="2382012" y="944118"/>
                </a:lnTo>
                <a:lnTo>
                  <a:pt x="0" y="944118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8448484" y="4085463"/>
            <a:ext cx="2391156" cy="77724"/>
            <a:chOff x="0" y="0"/>
            <a:chExt cx="3188208" cy="10363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188208" cy="103632"/>
            </a:xfrm>
            <a:custGeom>
              <a:avLst/>
              <a:gdLst/>
              <a:ahLst/>
              <a:cxnLst/>
              <a:rect r="r" b="b" t="t" l="l"/>
              <a:pathLst>
                <a:path h="103632" w="3188208">
                  <a:moveTo>
                    <a:pt x="0" y="0"/>
                  </a:moveTo>
                  <a:lnTo>
                    <a:pt x="3188208" y="0"/>
                  </a:lnTo>
                  <a:lnTo>
                    <a:pt x="3188208" y="103632"/>
                  </a:lnTo>
                  <a:lnTo>
                    <a:pt x="0" y="103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2"/>
              <a:stretch>
                <a:fillRect l="0" t="0" r="0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448484" y="4971288"/>
            <a:ext cx="2391156" cy="77724"/>
            <a:chOff x="0" y="0"/>
            <a:chExt cx="3188208" cy="10363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188208" cy="103632"/>
            </a:xfrm>
            <a:custGeom>
              <a:avLst/>
              <a:gdLst/>
              <a:ahLst/>
              <a:cxnLst/>
              <a:rect r="r" b="b" t="t" l="l"/>
              <a:pathLst>
                <a:path h="103632" w="3188208">
                  <a:moveTo>
                    <a:pt x="0" y="0"/>
                  </a:moveTo>
                  <a:lnTo>
                    <a:pt x="3188208" y="0"/>
                  </a:lnTo>
                  <a:lnTo>
                    <a:pt x="3188208" y="103632"/>
                  </a:lnTo>
                  <a:lnTo>
                    <a:pt x="0" y="103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0357771" y="4086034"/>
            <a:ext cx="482346" cy="962406"/>
            <a:chOff x="0" y="0"/>
            <a:chExt cx="643128" cy="128320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43128" cy="1283208"/>
            </a:xfrm>
            <a:custGeom>
              <a:avLst/>
              <a:gdLst/>
              <a:ahLst/>
              <a:cxnLst/>
              <a:rect r="r" b="b" t="t" l="l"/>
              <a:pathLst>
                <a:path h="1283208" w="643128">
                  <a:moveTo>
                    <a:pt x="0" y="0"/>
                  </a:moveTo>
                  <a:lnTo>
                    <a:pt x="643128" y="0"/>
                  </a:lnTo>
                  <a:lnTo>
                    <a:pt x="643128" y="1283208"/>
                  </a:lnTo>
                  <a:lnTo>
                    <a:pt x="0" y="1283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8"/>
              <a:stretch>
                <a:fillRect l="86171" t="0" r="84" b="0"/>
              </a:stretch>
            </a:blipFill>
          </p:spPr>
        </p:sp>
      </p:grpSp>
      <p:sp>
        <p:nvSpPr>
          <p:cNvPr name="Freeform 52" id="52"/>
          <p:cNvSpPr/>
          <p:nvPr/>
        </p:nvSpPr>
        <p:spPr>
          <a:xfrm flipH="false" flipV="false" rot="0">
            <a:off x="8428863" y="4086034"/>
            <a:ext cx="77724" cy="962406"/>
          </a:xfrm>
          <a:custGeom>
            <a:avLst/>
            <a:gdLst/>
            <a:ahLst/>
            <a:cxnLst/>
            <a:rect r="r" b="b" t="t" l="l"/>
            <a:pathLst>
              <a:path h="962406" w="77724">
                <a:moveTo>
                  <a:pt x="0" y="0"/>
                </a:moveTo>
                <a:lnTo>
                  <a:pt x="77724" y="0"/>
                </a:lnTo>
                <a:lnTo>
                  <a:pt x="77724" y="962406"/>
                </a:lnTo>
                <a:lnTo>
                  <a:pt x="0" y="962406"/>
                </a:lnTo>
                <a:lnTo>
                  <a:pt x="0" y="0"/>
                </a:lnTo>
                <a:close/>
              </a:path>
            </a:pathLst>
          </a:custGeom>
          <a:blipFill>
            <a:blip r:embed="rId53">
              <a:extLst>
                <a:ext uri="{96DAC541-7B7A-43D3-8B79-37D633B846F1}">
                  <asvg:svgBlip xmlns:asvg="http://schemas.microsoft.com/office/drawing/2016/SVG/main" r:embed="rId5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3" id="53"/>
          <p:cNvSpPr txBox="true"/>
          <p:nvPr/>
        </p:nvSpPr>
        <p:spPr>
          <a:xfrm rot="0">
            <a:off x="600075" y="1203341"/>
            <a:ext cx="5746680" cy="499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3"/>
              </a:lnSpc>
            </a:pPr>
            <a:r>
              <a:rPr lang="en-US" sz="2952">
                <a:solidFill>
                  <a:srgbClr val="091C5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Máquina de Estados e Controles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18585" y="1998812"/>
            <a:ext cx="30147" cy="20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600075" y="1998812"/>
            <a:ext cx="2780957" cy="20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O</a:t>
            </a:r>
            <a:r>
              <a:rPr lang="en-US" sz="1181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jogo</a:t>
            </a:r>
            <a:r>
              <a:rPr lang="en-US" sz="1181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inteiro</a:t>
            </a:r>
            <a:r>
              <a:rPr lang="en-US" sz="1181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é</a:t>
            </a:r>
            <a:r>
              <a:rPr lang="en-US" sz="1181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controlado</a:t>
            </a:r>
            <a:r>
              <a:rPr lang="en-US" sz="1181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pela</a:t>
            </a:r>
            <a:r>
              <a:rPr lang="en-US" sz="1181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variável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408509" y="2960837"/>
            <a:ext cx="1641586" cy="20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181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— Exploração do mapa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885655" y="3275162"/>
            <a:ext cx="2179901" cy="20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181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— Confirmação de movimento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706613" y="3579962"/>
            <a:ext cx="128226" cy="20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181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/ 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2763822" y="3579962"/>
            <a:ext cx="832114" cy="20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181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— Combate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515666" y="3894287"/>
            <a:ext cx="1060418" cy="20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181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— Uso de itens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352550" y="4208612"/>
            <a:ext cx="128226" cy="20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181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/ 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2219706" y="4208612"/>
            <a:ext cx="990486" cy="20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181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— Fim de jogo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2004422" y="4522937"/>
            <a:ext cx="1133104" cy="20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181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— Nova floresta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6133652" y="3532337"/>
            <a:ext cx="812073" cy="20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Movimento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6133652" y="4646762"/>
            <a:ext cx="1102195" cy="20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Abrir inventário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3705073" y="1998812"/>
            <a:ext cx="4452995" cy="20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.Cadaestadoaceitaapenasdeterminadas entradas do teclado.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8674598" y="4646762"/>
            <a:ext cx="1562471" cy="20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Selecionar e usar item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8674598" y="3532337"/>
            <a:ext cx="1608687" cy="20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Confirmar ou Cancelar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882101" y="2882579"/>
            <a:ext cx="1023537" cy="596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4"/>
              </a:lnSpc>
            </a:pPr>
            <a:r>
              <a:rPr lang="en-US" sz="118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explore confirm_move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882101" y="3577904"/>
            <a:ext cx="1889065" cy="205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18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combat_init combat_turn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882101" y="3892229"/>
            <a:ext cx="646195" cy="205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18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use_item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882101" y="4206554"/>
            <a:ext cx="1334205" cy="205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18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victory gameover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882101" y="4520879"/>
            <a:ext cx="1144734" cy="205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18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new_game_plus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3356077" y="2004403"/>
            <a:ext cx="355921" cy="205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181">
                <a:solidFill>
                  <a:srgbClr val="1E3063"/>
                </a:solidFill>
                <a:latin typeface="Noto Sans"/>
                <a:ea typeface="Noto Sans"/>
                <a:cs typeface="Noto Sans"/>
                <a:sym typeface="Noto Sans"/>
              </a:rPr>
              <a:t>state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642195" y="2559101"/>
            <a:ext cx="1796396" cy="254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Estados Disponíveis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6133652" y="4245026"/>
            <a:ext cx="653491" cy="254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Espaço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5907434" y="2559101"/>
            <a:ext cx="2394033" cy="254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091C5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Mapeamento de Controles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6133652" y="3130601"/>
            <a:ext cx="503834" cy="254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Setas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8674598" y="3130601"/>
            <a:ext cx="431035" cy="254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Y / N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8674598" y="4245026"/>
            <a:ext cx="978198" cy="254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↑↓ + Enter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381"/>
            <a:ext cx="11430000" cy="6439662"/>
          </a:xfrm>
          <a:custGeom>
            <a:avLst/>
            <a:gdLst/>
            <a:ahLst/>
            <a:cxnLst/>
            <a:rect r="r" b="b" t="t" l="l"/>
            <a:pathLst>
              <a:path h="6439662" w="11430000">
                <a:moveTo>
                  <a:pt x="0" y="0"/>
                </a:moveTo>
                <a:lnTo>
                  <a:pt x="11430000" y="0"/>
                </a:lnTo>
                <a:lnTo>
                  <a:pt x="11430000" y="6439662"/>
                </a:lnTo>
                <a:lnTo>
                  <a:pt x="0" y="6439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72" y="4191"/>
            <a:ext cx="11420856" cy="6430518"/>
          </a:xfrm>
          <a:custGeom>
            <a:avLst/>
            <a:gdLst/>
            <a:ahLst/>
            <a:cxnLst/>
            <a:rect r="r" b="b" t="t" l="l"/>
            <a:pathLst>
              <a:path h="6430518" w="11420856">
                <a:moveTo>
                  <a:pt x="0" y="0"/>
                </a:moveTo>
                <a:lnTo>
                  <a:pt x="11420856" y="0"/>
                </a:lnTo>
                <a:lnTo>
                  <a:pt x="11420856" y="6430518"/>
                </a:lnTo>
                <a:lnTo>
                  <a:pt x="0" y="64305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-381"/>
            <a:ext cx="11430000" cy="6439662"/>
          </a:xfrm>
          <a:custGeom>
            <a:avLst/>
            <a:gdLst/>
            <a:ahLst/>
            <a:cxnLst/>
            <a:rect r="r" b="b" t="t" l="l"/>
            <a:pathLst>
              <a:path h="6439662" w="11430000">
                <a:moveTo>
                  <a:pt x="0" y="0"/>
                </a:moveTo>
                <a:lnTo>
                  <a:pt x="11430000" y="0"/>
                </a:lnTo>
                <a:lnTo>
                  <a:pt x="11430000" y="6439662"/>
                </a:lnTo>
                <a:lnTo>
                  <a:pt x="0" y="6439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800725" y="1142810"/>
            <a:ext cx="5143500" cy="4848606"/>
          </a:xfrm>
          <a:custGeom>
            <a:avLst/>
            <a:gdLst/>
            <a:ahLst/>
            <a:cxnLst/>
            <a:rect r="r" b="b" t="t" l="l"/>
            <a:pathLst>
              <a:path h="4848606" w="5143500">
                <a:moveTo>
                  <a:pt x="0" y="0"/>
                </a:moveTo>
                <a:lnTo>
                  <a:pt x="5143500" y="0"/>
                </a:lnTo>
                <a:lnTo>
                  <a:pt x="5143500" y="4848606"/>
                </a:lnTo>
                <a:lnTo>
                  <a:pt x="0" y="48486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971984" y="1771459"/>
            <a:ext cx="48006" cy="48006"/>
          </a:xfrm>
          <a:custGeom>
            <a:avLst/>
            <a:gdLst/>
            <a:ahLst/>
            <a:cxnLst/>
            <a:rect r="r" b="b" t="t" l="l"/>
            <a:pathLst>
              <a:path h="48006" w="48006">
                <a:moveTo>
                  <a:pt x="0" y="0"/>
                </a:moveTo>
                <a:lnTo>
                  <a:pt x="48006" y="0"/>
                </a:lnTo>
                <a:lnTo>
                  <a:pt x="48006" y="48006"/>
                </a:lnTo>
                <a:lnTo>
                  <a:pt x="0" y="480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971984" y="2066734"/>
            <a:ext cx="48006" cy="48006"/>
          </a:xfrm>
          <a:custGeom>
            <a:avLst/>
            <a:gdLst/>
            <a:ahLst/>
            <a:cxnLst/>
            <a:rect r="r" b="b" t="t" l="l"/>
            <a:pathLst>
              <a:path h="48006" w="48006">
                <a:moveTo>
                  <a:pt x="0" y="0"/>
                </a:moveTo>
                <a:lnTo>
                  <a:pt x="48006" y="0"/>
                </a:lnTo>
                <a:lnTo>
                  <a:pt x="48006" y="48006"/>
                </a:lnTo>
                <a:lnTo>
                  <a:pt x="0" y="480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971984" y="2362010"/>
            <a:ext cx="48006" cy="48006"/>
          </a:xfrm>
          <a:custGeom>
            <a:avLst/>
            <a:gdLst/>
            <a:ahLst/>
            <a:cxnLst/>
            <a:rect r="r" b="b" t="t" l="l"/>
            <a:pathLst>
              <a:path h="48006" w="48006">
                <a:moveTo>
                  <a:pt x="0" y="0"/>
                </a:moveTo>
                <a:lnTo>
                  <a:pt x="48006" y="0"/>
                </a:lnTo>
                <a:lnTo>
                  <a:pt x="48006" y="48006"/>
                </a:lnTo>
                <a:lnTo>
                  <a:pt x="0" y="480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971984" y="2647760"/>
            <a:ext cx="48006" cy="48006"/>
          </a:xfrm>
          <a:custGeom>
            <a:avLst/>
            <a:gdLst/>
            <a:ahLst/>
            <a:cxnLst/>
            <a:rect r="r" b="b" t="t" l="l"/>
            <a:pathLst>
              <a:path h="48006" w="48006">
                <a:moveTo>
                  <a:pt x="0" y="0"/>
                </a:moveTo>
                <a:lnTo>
                  <a:pt x="48006" y="0"/>
                </a:lnTo>
                <a:lnTo>
                  <a:pt x="48006" y="48006"/>
                </a:lnTo>
                <a:lnTo>
                  <a:pt x="0" y="480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971984" y="2943034"/>
            <a:ext cx="48006" cy="48006"/>
          </a:xfrm>
          <a:custGeom>
            <a:avLst/>
            <a:gdLst/>
            <a:ahLst/>
            <a:cxnLst/>
            <a:rect r="r" b="b" t="t" l="l"/>
            <a:pathLst>
              <a:path h="48006" w="48006">
                <a:moveTo>
                  <a:pt x="0" y="0"/>
                </a:moveTo>
                <a:lnTo>
                  <a:pt x="48006" y="0"/>
                </a:lnTo>
                <a:lnTo>
                  <a:pt x="48006" y="48006"/>
                </a:lnTo>
                <a:lnTo>
                  <a:pt x="0" y="480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971984" y="3238310"/>
            <a:ext cx="48006" cy="48006"/>
          </a:xfrm>
          <a:custGeom>
            <a:avLst/>
            <a:gdLst/>
            <a:ahLst/>
            <a:cxnLst/>
            <a:rect r="r" b="b" t="t" l="l"/>
            <a:pathLst>
              <a:path h="48006" w="48006">
                <a:moveTo>
                  <a:pt x="0" y="0"/>
                </a:moveTo>
                <a:lnTo>
                  <a:pt x="48006" y="0"/>
                </a:lnTo>
                <a:lnTo>
                  <a:pt x="48006" y="48006"/>
                </a:lnTo>
                <a:lnTo>
                  <a:pt x="0" y="480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019669" y="3114294"/>
            <a:ext cx="1067562" cy="324612"/>
          </a:xfrm>
          <a:custGeom>
            <a:avLst/>
            <a:gdLst/>
            <a:ahLst/>
            <a:cxnLst/>
            <a:rect r="r" b="b" t="t" l="l"/>
            <a:pathLst>
              <a:path h="324612" w="1067562">
                <a:moveTo>
                  <a:pt x="0" y="0"/>
                </a:moveTo>
                <a:lnTo>
                  <a:pt x="1067562" y="0"/>
                </a:lnTo>
                <a:lnTo>
                  <a:pt x="1067562" y="324612"/>
                </a:lnTo>
                <a:lnTo>
                  <a:pt x="0" y="32461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00075" y="431816"/>
            <a:ext cx="6697685" cy="499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3"/>
              </a:lnSpc>
            </a:pPr>
            <a:r>
              <a:rPr lang="en-US" sz="2952">
                <a:solidFill>
                  <a:srgbClr val="091C5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Vitória, New Game Plus e Tecnologias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0075" y="2263826"/>
            <a:ext cx="4784693" cy="892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2"/>
              </a:lnSpc>
            </a:pPr>
            <a:r>
              <a:rPr lang="en-US" sz="1476">
                <a:solidFill>
                  <a:srgbClr val="091C5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New Game Plus</a:t>
            </a:r>
          </a:p>
          <a:p>
            <a:pPr algn="l">
              <a:lnSpc>
                <a:spcPts val="1874"/>
              </a:lnSpc>
            </a:pP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Ao aceitar: novo mapa gerado, exploração reiniciada, geração incrementada. O jogador mantém atributos e inventário existentes.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00075" y="1254176"/>
            <a:ext cx="4972755" cy="87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2"/>
              </a:lnSpc>
            </a:pPr>
            <a:r>
              <a:rPr lang="en-US" sz="1476">
                <a:solidFill>
                  <a:srgbClr val="091C5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Condição de Vitória</a:t>
            </a:r>
          </a:p>
          <a:p>
            <a:pPr algn="l">
              <a:lnSpc>
                <a:spcPts val="1874"/>
              </a:lnSpc>
            </a:pPr>
            <a:r>
              <a:rPr lang="en-US" sz="118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Quando todas as 64 células forem exploradas, o jogador vence. O jogo oferece a opção de continuar para uma nova floresta.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949553" y="1282751"/>
            <a:ext cx="1994583" cy="254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Tecnologias Utilizadas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949553" y="3511601"/>
            <a:ext cx="4932521" cy="231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476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Considerações Técnicas</a:t>
            </a:r>
          </a:p>
          <a:p>
            <a:pPr algn="l">
              <a:lnSpc>
                <a:spcPts val="1905"/>
              </a:lnSpc>
            </a:pPr>
            <a:r>
              <a:rPr lang="en-US" sz="1181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Arquitetura simples, porém bem organizada, com separação lógica entre renderização, regras de negócio, combate, exploração e inventário. A utilização de múltiplas matrizes desacopla a representação gráfica da lógica interna, facilitando futuras expansões </a:t>
            </a:r>
          </a:p>
          <a:p>
            <a:pPr algn="l">
              <a:lnSpc>
                <a:spcPts val="1724"/>
              </a:lnSpc>
            </a:pPr>
            <a:r>
              <a:rPr lang="en-US" sz="1181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como novos inimigos, NPCs, missões ou mapas maiores. A máquina </a:t>
            </a:r>
          </a:p>
          <a:p>
            <a:pPr algn="l">
              <a:lnSpc>
                <a:spcPts val="2024"/>
              </a:lnSpc>
            </a:pPr>
            <a:r>
              <a:rPr lang="en-US" sz="1181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de estados centraliza o fluxo de execução, reduz conflitos entre </a:t>
            </a:r>
          </a:p>
          <a:p>
            <a:pPr algn="l">
              <a:lnSpc>
                <a:spcPts val="1724"/>
              </a:lnSpc>
            </a:pPr>
            <a:r>
              <a:rPr lang="en-US" sz="1181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entradas do teclado e torna o comportamento do jogo previsível e </a:t>
            </a:r>
          </a:p>
          <a:p>
            <a:pPr algn="l">
              <a:lnSpc>
                <a:spcPts val="2024"/>
              </a:lnSpc>
            </a:pPr>
            <a:r>
              <a:rPr lang="en-US" sz="1181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extensível.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189469" y="1627337"/>
            <a:ext cx="2172405" cy="173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8"/>
              </a:lnSpc>
            </a:pPr>
            <a:r>
              <a:rPr lang="en-US" sz="1181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HTML5, CSS3, JavaScript ES6 CSS Variables, Grid e Flexbox DOM API e Eventos de Teclado Programação Procedural</a:t>
            </a:r>
          </a:p>
          <a:p>
            <a:pPr algn="l">
              <a:lnSpc>
                <a:spcPts val="2474"/>
              </a:lnSpc>
            </a:pPr>
            <a:r>
              <a:rPr lang="en-US" sz="1181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Máquina de Estados</a:t>
            </a:r>
          </a:p>
          <a:p>
            <a:pPr algn="l">
              <a:lnSpc>
                <a:spcPts val="2174"/>
              </a:lnSpc>
            </a:pPr>
            <a:r>
              <a:rPr lang="en-US" sz="1181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Geração Pseudoaleatória (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026746" y="3128124"/>
            <a:ext cx="1142390" cy="227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18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Math.random())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DAHMlk7g4VI</dc:identifier>
  <dcterms:modified xsi:type="dcterms:W3CDTF">2011-08-01T06:04:30Z</dcterms:modified>
  <cp:revision>1</cp:revision>
  <dc:title>7.pdf</dc:title>
</cp:coreProperties>
</file>